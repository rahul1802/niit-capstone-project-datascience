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9" r:id="rId1"/>
  </p:sldMasterIdLst>
  <p:notesMasterIdLst>
    <p:notesMasterId r:id="rId21"/>
  </p:notesMasterIdLst>
  <p:sldIdLst>
    <p:sldId id="256" r:id="rId2"/>
    <p:sldId id="272" r:id="rId3"/>
    <p:sldId id="275" r:id="rId4"/>
    <p:sldId id="260" r:id="rId5"/>
    <p:sldId id="281" r:id="rId6"/>
    <p:sldId id="304" r:id="rId7"/>
    <p:sldId id="305" r:id="rId8"/>
    <p:sldId id="309" r:id="rId9"/>
    <p:sldId id="306" r:id="rId10"/>
    <p:sldId id="310" r:id="rId11"/>
    <p:sldId id="285" r:id="rId12"/>
    <p:sldId id="301" r:id="rId13"/>
    <p:sldId id="303" r:id="rId14"/>
    <p:sldId id="293" r:id="rId15"/>
    <p:sldId id="278" r:id="rId16"/>
    <p:sldId id="297" r:id="rId17"/>
    <p:sldId id="279" r:id="rId18"/>
    <p:sldId id="277" r:id="rId19"/>
    <p:sldId id="271" r:id="rId20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E2E501A-8C7D-2FF0-43ED-2A3A91E56724}" name="Omkar Vaity" initials="OV" userId="95079f2d42ca5ac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50" autoAdjust="0"/>
    <p:restoredTop sz="66383" autoAdjust="0"/>
  </p:normalViewPr>
  <p:slideViewPr>
    <p:cSldViewPr snapToGrid="0" snapToObjects="1">
      <p:cViewPr varScale="1">
        <p:scale>
          <a:sx n="117" d="100"/>
          <a:sy n="117" d="100"/>
        </p:scale>
        <p:origin x="61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8398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0A40F-5178-C6D5-7D47-82B089872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2DF9CF-007E-CE02-A23A-DA0ABA8EF5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D21CFB-CDE6-8922-CB7A-98BCCD095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BB004-3DC5-A89A-8E33-D9297B8C2A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915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E9051-29C8-566A-BE3A-C44B1C61D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699B3B-709E-0414-DF40-CB6983B59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729E3-1A70-60DE-B815-1B8DC10BED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2BEB3-C665-DA57-C2A8-A48F4EFF69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278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0BA4A-FEED-88C9-9428-B92B71F7C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3F18CF-0A2D-D43F-02EE-D54436EBBD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31A093-5A25-3D47-389A-828998913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A0F93-ABDF-3E2B-7112-15B4693223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981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1FBAA-143B-49C7-F8CE-62E328B32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784C96-3F05-3835-CBCB-17FFCAF1E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CAC4E-BD7D-B94F-141A-799903E9F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812ED-6AE8-C60C-09F5-25D7D73FF7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635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E9C1A-309F-6A96-69F3-EEE9573AC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5CABE7-BC39-E653-B608-E7EAEE555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49B967-7A71-B951-2ADC-393A0DC4B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45D0B-FDFD-7C3E-6610-7C4DEA34F6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673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5D22C-DF0A-94F7-EC32-49B78FF82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A89866-C8E1-DA6D-8934-E307D7FC4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E42645-67B8-4599-3145-0FCB41F31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</a:t>
            </a:r>
            <a:endParaRPr lang="en-IN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 KPI summary from shipment data in pandas. </a:t>
            </a:r>
          </a:p>
          <a:p>
            <a:r>
              <a:rPr lang="en-I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Convert metrics into a business prompt template.</a:t>
            </a:r>
          </a:p>
          <a:p>
            <a:r>
              <a:rPr lang="en-I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prompt to </a:t>
            </a:r>
            <a:r>
              <a:rPr lang="en-IN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Groq</a:t>
            </a:r>
            <a:r>
              <a:rPr lang="en-I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using llama-3.3-70b-versatile with low temperature for stable responses.</a:t>
            </a:r>
          </a:p>
          <a:p>
            <a:r>
              <a:rPr lang="en-I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an answer plus the underlying summary for traceability.</a:t>
            </a:r>
          </a:p>
          <a:p>
            <a:endParaRPr lang="en-IN"/>
          </a:p>
          <a:p>
            <a:br>
              <a:rPr lang="en-IN"/>
            </a:br>
            <a:endParaRPr lang="en-IN"/>
          </a:p>
          <a:p>
            <a:endParaRPr lang="en-IN"/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developed an LLM-based business Q&amp;A layer for supply chain analytics. First, the code calculates logistics KPIs such as delay rates and missed delivery percentage using pandas, then formats those outputs into a structured business prompt, and finally sends that prompt to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Groq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generate concise and actionable insights. This makes raw operational metrics easier for business stakeholders to understand and act on.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AA8C7-8F56-2B64-BC87-9F8D75DCD4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543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724D4-46DF-981A-213A-EBDA81B1E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EE6BD-646F-5C3E-47B9-F6D94916D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763912-3A91-AA06-6998-5A8E7A41F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87D19-9034-1AAA-970C-0D5BCF1A0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752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Excel with interpretation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47349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CBDB1-658A-C0B5-978E-6FB51F305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236040-8A1F-BC62-D0BD-64629B6DD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83FFCA-9935-2E96-59BE-65C752B7D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1200" b="1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1. T-Test </a:t>
            </a:r>
          </a:p>
          <a:p>
            <a:endParaRPr lang="en-US" sz="1200" dirty="0"/>
          </a:p>
          <a:p>
            <a:r>
              <a:rPr lang="en-US" sz="1200" b="1" dirty="0"/>
              <a:t>H₀</a:t>
            </a:r>
            <a:r>
              <a:rPr lang="en-US" sz="1200" dirty="0"/>
              <a:t>: No cost difference between AIR and GROUND.</a:t>
            </a:r>
          </a:p>
          <a:p>
            <a:r>
              <a:rPr lang="en-US" sz="1200" b="1" dirty="0"/>
              <a:t>H₁</a:t>
            </a:r>
            <a:r>
              <a:rPr lang="en-US" sz="1200" dirty="0"/>
              <a:t>: Significant cost difference exists.</a:t>
            </a:r>
          </a:p>
          <a:p>
            <a:endParaRPr lang="en-US" sz="1200" dirty="0"/>
          </a:p>
          <a:p>
            <a:r>
              <a:rPr lang="en-US" sz="1200" b="1" dirty="0"/>
              <a:t>Sample Size:</a:t>
            </a:r>
          </a:p>
          <a:p>
            <a:r>
              <a:rPr lang="en-US" sz="1200" dirty="0"/>
              <a:t>AIR: 5</a:t>
            </a:r>
          </a:p>
          <a:p>
            <a:r>
              <a:rPr lang="en-US" sz="1200" dirty="0"/>
              <a:t>GROUND: 5</a:t>
            </a:r>
          </a:p>
          <a:p>
            <a:endParaRPr lang="en-US" sz="1200" dirty="0"/>
          </a:p>
          <a:p>
            <a:r>
              <a:rPr lang="en-US" sz="1200" b="1" dirty="0"/>
              <a:t>Output:</a:t>
            </a:r>
          </a:p>
          <a:p>
            <a:r>
              <a:rPr lang="en-US" sz="1200" dirty="0"/>
              <a:t>T = -7.466, p = 0.00168 , Alpha = 0.05→ Reject H₀.</a:t>
            </a:r>
          </a:p>
          <a:p>
            <a:endParaRPr lang="en-US" sz="1200" dirty="0"/>
          </a:p>
          <a:p>
            <a:pPr>
              <a:lnSpc>
                <a:spcPct val="150000"/>
              </a:lnSpc>
            </a:pPr>
            <a:endParaRPr lang="en-US" sz="1200" dirty="0">
              <a:solidFill>
                <a:srgbClr val="475569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2. Chi-Square Test (Independence Test)</a:t>
            </a:r>
          </a:p>
          <a:p>
            <a:endParaRPr lang="en-US" sz="1200" dirty="0"/>
          </a:p>
          <a:p>
            <a:pPr>
              <a:buNone/>
            </a:pPr>
            <a:r>
              <a:rPr lang="en-IN" sz="1200" b="1" dirty="0"/>
              <a:t>H₀</a:t>
            </a:r>
            <a:r>
              <a:rPr lang="en-IN" sz="1200" dirty="0"/>
              <a:t>: Carrier does not affect delivery performance.</a:t>
            </a:r>
          </a:p>
          <a:p>
            <a:pPr>
              <a:buNone/>
            </a:pPr>
            <a:r>
              <a:rPr lang="en-IN" sz="1200" b="1" dirty="0"/>
              <a:t>H₁</a:t>
            </a:r>
            <a:r>
              <a:rPr lang="en-IN" sz="1200" dirty="0"/>
              <a:t>: Carrier affects delivery performance.</a:t>
            </a:r>
          </a:p>
          <a:p>
            <a:pPr>
              <a:buNone/>
            </a:pPr>
            <a:endParaRPr lang="en-IN" sz="1200" dirty="0"/>
          </a:p>
          <a:p>
            <a:pPr>
              <a:buNone/>
            </a:pPr>
            <a:r>
              <a:rPr lang="en-IN" sz="1200" b="1" dirty="0"/>
              <a:t>Output:</a:t>
            </a:r>
            <a:endParaRPr lang="en-IN" sz="1200" dirty="0"/>
          </a:p>
          <a:p>
            <a:pPr>
              <a:buNone/>
            </a:pPr>
            <a:r>
              <a:rPr lang="en-IN" sz="1200" dirty="0"/>
              <a:t>Chi² = 51870.225, p = 0.000, </a:t>
            </a:r>
            <a:r>
              <a:rPr lang="en-IN" sz="1200" dirty="0" err="1"/>
              <a:t>df</a:t>
            </a:r>
            <a:r>
              <a:rPr lang="en-IN" sz="1200" dirty="0"/>
              <a:t> = 1 ,Alpha 0.05→ Reject H₀.</a:t>
            </a:r>
          </a:p>
          <a:p>
            <a:pPr>
              <a:buNone/>
            </a:pPr>
            <a:endParaRPr lang="en-IN" sz="1200" dirty="0"/>
          </a:p>
          <a:p>
            <a:pPr>
              <a:buNone/>
            </a:pPr>
            <a:endParaRPr lang="en-IN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86311-49F6-1500-42D9-B6BAC70370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991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C93FA-87AB-FEF2-583A-F31E517BA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B9756-94FC-162F-F82A-EEBF883E6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32AB17-9EEC-8754-0C6E-09DC3B4FA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Model Performance:</a:t>
            </a:r>
          </a:p>
          <a:p>
            <a:r>
              <a:rPr lang="en-US" sz="1200"/>
              <a:t>Silhouette Score: 0.589, Davies-Bouldin Index: 0.527, </a:t>
            </a:r>
            <a:r>
              <a:rPr lang="en-US" sz="1200" err="1"/>
              <a:t>Calinski-Harabasz</a:t>
            </a:r>
            <a:r>
              <a:rPr lang="en-US" sz="1200"/>
              <a:t> Score: 88.357.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38DB7-EA10-5E39-BEF4-B5A09E5728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0023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50811-F0A8-C1BC-0C7E-D534C03A2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9F43FF-620A-9D0F-66B0-9CB60A928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426FCC-055F-A037-E400-F9F1EC08A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4266C-BD5E-2824-5DD8-C18144712F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091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9B11E-CFB2-9FE9-9853-71F510C9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A8B870-EB31-1A21-E02D-8896072C0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070406-F6EC-EDE8-632F-EF8394B8A1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30CB3-6932-F672-6974-85616D51EE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1108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C10C0-B9DD-5516-F109-F9414B65D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8DB03-2B35-0956-A8C7-EF835E485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94B617-7BEE-D611-DDA3-34BA8FA76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72752-2277-A96F-3404-4EADEF5471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553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C8DC0-43DF-ECCA-43C9-1AB11173A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EC603-C011-2BB0-8098-5F717008D4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230DCF-E421-DE80-6BFF-19261769A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14D61-EC41-04F7-1BDF-0061BE92CC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983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BABA2-DE59-DD24-7D47-224DFD27C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24FF00-CF83-DEB5-D6D4-A9DD4A718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ACBD0B-E874-12BC-C14B-C083A0548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76556-8B10-71B2-6B57-7B645893DB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10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E61E4-71AB-661C-6CFC-BC1552206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6FEFD5-A8A1-531B-4988-8282A3963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FD7CF-719E-375B-BF03-F36C42B48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A0220-C72D-475F-C1CA-10DCEC4107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134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698645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419924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71573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10088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154090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56543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982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13674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C764DE79-268F-4C1A-8933-263129D2AF9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342002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889243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1180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9294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638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  <p:sldLayoutId id="2147483941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54032" y="723569"/>
            <a:ext cx="8633861" cy="764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3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Operational Data for Logistics Efficiency</a:t>
            </a:r>
          </a:p>
          <a:p>
            <a:pPr marL="0" indent="0" algn="ctr">
              <a:lnSpc>
                <a:spcPts val="5400"/>
              </a:lnSpc>
              <a:buNone/>
            </a:pPr>
            <a:endParaRPr lang="en-US" sz="3200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717217" y="3518443"/>
            <a:ext cx="5707488" cy="584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890"/>
              </a:lnSpc>
            </a:pPr>
            <a:r>
              <a:rPr lang="en-US">
                <a:latin typeface="Arial" pitchFamily="34" charset="0"/>
                <a:cs typeface="Arial" pitchFamily="34" charset="-120"/>
              </a:rPr>
              <a:t>Batch Code: DA634S63 </a:t>
            </a:r>
          </a:p>
          <a:p>
            <a:pPr algn="ctr">
              <a:lnSpc>
                <a:spcPts val="1890"/>
              </a:lnSpc>
            </a:pPr>
            <a:r>
              <a:rPr lang="en-US">
                <a:latin typeface="Arial" pitchFamily="34" charset="0"/>
                <a:cs typeface="Arial" pitchFamily="34" charset="-120"/>
              </a:rPr>
              <a:t>• Project Guide: Komilla Bhatia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D964A9C-39EB-22E4-9F48-E3E141222349}"/>
              </a:ext>
            </a:extLst>
          </p:cNvPr>
          <p:cNvSpPr/>
          <p:nvPr/>
        </p:nvSpPr>
        <p:spPr>
          <a:xfrm>
            <a:off x="2668849" y="2115452"/>
            <a:ext cx="3804225" cy="912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>
                <a:latin typeface="Arial" pitchFamily="34" charset="0"/>
                <a:cs typeface="Arial" pitchFamily="34" charset="-120"/>
              </a:rPr>
              <a:t>Name of Team Members:</a:t>
            </a:r>
          </a:p>
          <a:p>
            <a:pPr algn="ctr">
              <a:lnSpc>
                <a:spcPts val="2100"/>
              </a:lnSpc>
            </a:pPr>
            <a:r>
              <a:rPr lang="en-US">
                <a:latin typeface="Arial" pitchFamily="34" charset="0"/>
                <a:cs typeface="Arial" pitchFamily="34" charset="-120"/>
              </a:rPr>
              <a:t>• Omkar Vaity </a:t>
            </a:r>
          </a:p>
          <a:p>
            <a:pPr algn="ctr">
              <a:lnSpc>
                <a:spcPts val="2100"/>
              </a:lnSpc>
            </a:pPr>
            <a:r>
              <a:rPr lang="en-US">
                <a:latin typeface="Arial" pitchFamily="34" charset="0"/>
                <a:cs typeface="Arial" pitchFamily="34" charset="-120"/>
              </a:rPr>
              <a:t>• Rahul S K</a:t>
            </a:r>
          </a:p>
          <a:p>
            <a:pPr algn="ctr">
              <a:lnSpc>
                <a:spcPts val="2100"/>
              </a:lnSpc>
            </a:pPr>
            <a:endParaRPr lang="en-US">
              <a:latin typeface="Arial" pitchFamily="34" charset="0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63F92A2-0EE3-B58B-4AF6-7687D3761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8B0124-7AB4-FD2E-4BE1-613A0EC39A33}"/>
              </a:ext>
            </a:extLst>
          </p:cNvPr>
          <p:cNvSpPr/>
          <p:nvPr/>
        </p:nvSpPr>
        <p:spPr>
          <a:xfrm>
            <a:off x="682752" y="33909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IN" sz="2700" b="1" dirty="0">
                <a:latin typeface="Arial" pitchFamily="34" charset="0"/>
                <a:cs typeface="Arial" pitchFamily="34" charset="-120"/>
              </a:rPr>
              <a:t>Problem Statement</a:t>
            </a:r>
            <a:endParaRPr lang="en-US" sz="2700" b="1" dirty="0">
              <a:latin typeface="Arial" pitchFamily="34" charset="0"/>
              <a:cs typeface="Arial" pitchFamily="34" charset="-12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91748C5-8DEB-8B85-0447-74B4DB6564E9}"/>
              </a:ext>
            </a:extLst>
          </p:cNvPr>
          <p:cNvSpPr/>
          <p:nvPr/>
        </p:nvSpPr>
        <p:spPr>
          <a:xfrm>
            <a:off x="841248" y="899980"/>
            <a:ext cx="7620000" cy="103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1600">
                <a:latin typeface="Arial" pitchFamily="34" charset="0"/>
                <a:cs typeface="Arial" pitchFamily="34" charset="-120"/>
              </a:rPr>
              <a:t>The logistics company is facing operational inefficiencies across its supply chain, including delays in deliveries, inconsistent warehouse utilization, frequent inventory stockouts, and rising operational costs.</a:t>
            </a:r>
            <a:endParaRPr lang="en-IN" sz="1600">
              <a:latin typeface="Arial" pitchFamily="34" charset="0"/>
              <a:cs typeface="Arial" pitchFamily="34" charset="-120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93C7015E-8428-2D4D-8878-8095433E018B}"/>
              </a:ext>
            </a:extLst>
          </p:cNvPr>
          <p:cNvSpPr/>
          <p:nvPr/>
        </p:nvSpPr>
        <p:spPr>
          <a:xfrm>
            <a:off x="682752" y="2145574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IN" sz="2700" b="1">
                <a:latin typeface="Arial" pitchFamily="34" charset="0"/>
                <a:cs typeface="Arial" pitchFamily="34" charset="-120"/>
              </a:rPr>
              <a:t>Business Objective</a:t>
            </a:r>
          </a:p>
          <a:p>
            <a:pPr marL="0" indent="0">
              <a:lnSpc>
                <a:spcPts val="3240"/>
              </a:lnSpc>
              <a:buNone/>
            </a:pPr>
            <a:endParaRPr lang="en-US" sz="270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B9E424B-0A16-2820-76DA-401473F218E7}"/>
              </a:ext>
            </a:extLst>
          </p:cNvPr>
          <p:cNvSpPr/>
          <p:nvPr/>
        </p:nvSpPr>
        <p:spPr>
          <a:xfrm>
            <a:off x="914400" y="2656222"/>
            <a:ext cx="7074568" cy="2486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200000"/>
              </a:lnSpc>
              <a:buFont typeface="+mj-lt"/>
              <a:buAutoNum type="romanUcPeriod"/>
            </a:pPr>
            <a:r>
              <a:rPr lang="en-US" sz="1600" b="1">
                <a:latin typeface="Arial" pitchFamily="34" charset="0"/>
                <a:cs typeface="Arial" pitchFamily="34" charset="-120"/>
              </a:rPr>
              <a:t>Delivery Performance</a:t>
            </a:r>
            <a:r>
              <a:rPr lang="en-US" sz="1600">
                <a:latin typeface="Arial" pitchFamily="34" charset="0"/>
                <a:cs typeface="Arial" pitchFamily="34" charset="-120"/>
              </a:rPr>
              <a:t>: Identify delays and improve on-time delivery</a:t>
            </a:r>
          </a:p>
          <a:p>
            <a:pPr marL="285750" indent="-285750">
              <a:lnSpc>
                <a:spcPct val="200000"/>
              </a:lnSpc>
              <a:buFont typeface="+mj-lt"/>
              <a:buAutoNum type="romanUcPeriod"/>
            </a:pPr>
            <a:r>
              <a:rPr lang="en-US" sz="1600" b="1">
                <a:latin typeface="Arial" pitchFamily="34" charset="0"/>
                <a:cs typeface="Arial" pitchFamily="34" charset="-120"/>
              </a:rPr>
              <a:t>Cost Efficiency</a:t>
            </a:r>
            <a:r>
              <a:rPr lang="en-US" sz="1600">
                <a:latin typeface="Arial" pitchFamily="34" charset="0"/>
                <a:cs typeface="Arial" pitchFamily="34" charset="-120"/>
              </a:rPr>
              <a:t>: Analyze cost drivers and reduce transportation cost</a:t>
            </a:r>
          </a:p>
          <a:p>
            <a:pPr marL="285750" indent="-285750">
              <a:lnSpc>
                <a:spcPct val="200000"/>
              </a:lnSpc>
              <a:buFont typeface="+mj-lt"/>
              <a:buAutoNum type="romanUcPeriod"/>
            </a:pPr>
            <a:r>
              <a:rPr lang="en-US" sz="1600" b="1">
                <a:latin typeface="Arial" pitchFamily="34" charset="0"/>
                <a:cs typeface="Arial" pitchFamily="34" charset="-120"/>
              </a:rPr>
              <a:t>Warehouse Efficiency</a:t>
            </a:r>
            <a:r>
              <a:rPr lang="en-US" sz="1600">
                <a:latin typeface="Arial" pitchFamily="34" charset="0"/>
                <a:cs typeface="Arial" pitchFamily="34" charset="-120"/>
              </a:rPr>
              <a:t>: Optimize utilization and improve productivity</a:t>
            </a:r>
          </a:p>
          <a:p>
            <a:pPr marL="285750" indent="-285750">
              <a:lnSpc>
                <a:spcPct val="200000"/>
              </a:lnSpc>
              <a:buFont typeface="+mj-lt"/>
              <a:buAutoNum type="romanUcPeriod"/>
            </a:pPr>
            <a:r>
              <a:rPr lang="en-US" sz="1600" b="1">
                <a:latin typeface="Arial" pitchFamily="34" charset="0"/>
                <a:cs typeface="Arial" pitchFamily="34" charset="-120"/>
              </a:rPr>
              <a:t>Inventory Management</a:t>
            </a:r>
            <a:r>
              <a:rPr lang="en-US" sz="1600">
                <a:latin typeface="Arial" pitchFamily="34" charset="0"/>
                <a:cs typeface="Arial" pitchFamily="34" charset="-120"/>
              </a:rPr>
              <a:t>: Reduce stockouts and improve inventory control</a:t>
            </a:r>
            <a:endParaRPr lang="en-IN" sz="1600">
              <a:latin typeface="Arial" pitchFamily="34" charset="0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8427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86CB69B-8A3C-8553-2BFD-7C331A01C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A095FFB-5234-EFD3-1F06-2F61C781DC86}"/>
              </a:ext>
            </a:extLst>
          </p:cNvPr>
          <p:cNvSpPr/>
          <p:nvPr/>
        </p:nvSpPr>
        <p:spPr>
          <a:xfrm>
            <a:off x="530352" y="233814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>
                <a:latin typeface="Arial" pitchFamily="34" charset="0"/>
                <a:ea typeface="Arial" pitchFamily="34" charset="-122"/>
                <a:cs typeface="Arial" pitchFamily="34" charset="-120"/>
              </a:rPr>
              <a:t>Data Description</a:t>
            </a:r>
            <a:endParaRPr lang="en-US" sz="27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6DA4A5-ED65-70BF-50C4-5819C7A907F0}"/>
              </a:ext>
            </a:extLst>
          </p:cNvPr>
          <p:cNvSpPr/>
          <p:nvPr/>
        </p:nvSpPr>
        <p:spPr>
          <a:xfrm>
            <a:off x="247262" y="831439"/>
            <a:ext cx="3769567" cy="4156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buSzPct val="100000"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Domain: </a:t>
            </a:r>
          </a:p>
          <a:p>
            <a:pPr marL="285750" indent="-285750">
              <a:lnSpc>
                <a:spcPct val="150000"/>
              </a:lnSpc>
              <a:buSzPct val="100000"/>
              <a:buFont typeface="Wingdings" panose="05000000000000000000" pitchFamily="2" charset="2"/>
              <a:buChar char="à"/>
            </a:pPr>
            <a:r>
              <a:rPr lang="en-US" sz="1350" dirty="0">
                <a:latin typeface="Arial" pitchFamily="34" charset="0"/>
                <a:cs typeface="Arial" pitchFamily="34" charset="-120"/>
              </a:rPr>
              <a:t>The dataset belongs to the logistics and supply chain industry.</a:t>
            </a:r>
          </a:p>
          <a:p>
            <a:pPr>
              <a:lnSpc>
                <a:spcPct val="150000"/>
              </a:lnSpc>
              <a:buSzPct val="100000"/>
            </a:pPr>
            <a:endParaRPr lang="en-US" sz="1350" dirty="0">
              <a:latin typeface="Arial" pitchFamily="34" charset="0"/>
              <a:cs typeface="Arial" pitchFamily="34" charset="-12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Data Size &amp; Scale:</a:t>
            </a:r>
          </a:p>
          <a:p>
            <a:pPr marL="285750" indent="-285750">
              <a:lnSpc>
                <a:spcPct val="150000"/>
              </a:lnSpc>
              <a:buSzPct val="100000"/>
              <a:buFont typeface="Wingdings" panose="05000000000000000000" pitchFamily="2" charset="2"/>
              <a:buChar char="à"/>
            </a:pPr>
            <a:r>
              <a:rPr lang="en-US" sz="1350" dirty="0">
                <a:latin typeface="Arial" pitchFamily="34" charset="0"/>
                <a:cs typeface="Arial" pitchFamily="34" charset="-120"/>
              </a:rPr>
              <a:t>Shipment data: ~209K records 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350" dirty="0">
                <a:latin typeface="Arial" pitchFamily="34" charset="0"/>
                <a:cs typeface="Arial" pitchFamily="34" charset="-120"/>
              </a:rPr>
              <a:t>(high-volume transactional data)</a:t>
            </a:r>
            <a:br>
              <a:rPr lang="en-US" sz="1350" dirty="0">
                <a:latin typeface="Arial" pitchFamily="34" charset="0"/>
                <a:cs typeface="Arial" pitchFamily="34" charset="-120"/>
              </a:rPr>
            </a:br>
            <a:endParaRPr lang="en-US" sz="1350" dirty="0">
              <a:latin typeface="Arial" pitchFamily="34" charset="0"/>
              <a:cs typeface="Arial" pitchFamily="34" charset="-120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Wingdings" panose="05000000000000000000" pitchFamily="2" charset="2"/>
              <a:buChar char="à"/>
            </a:pPr>
            <a:r>
              <a:rPr lang="en-US" sz="1350" dirty="0">
                <a:latin typeface="Arial" pitchFamily="34" charset="0"/>
                <a:cs typeface="Arial" pitchFamily="34" charset="-120"/>
              </a:rPr>
              <a:t>Inventory data: ~2K records 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350" dirty="0">
                <a:latin typeface="Arial" pitchFamily="34" charset="0"/>
                <a:cs typeface="Arial" pitchFamily="34" charset="-120"/>
              </a:rPr>
              <a:t>(product-level stock insights)</a:t>
            </a:r>
            <a:br>
              <a:rPr lang="en-US" sz="1350" dirty="0">
                <a:latin typeface="Arial" pitchFamily="34" charset="0"/>
                <a:cs typeface="Arial" pitchFamily="34" charset="-120"/>
              </a:rPr>
            </a:br>
            <a:endParaRPr lang="en-US" sz="1350" dirty="0">
              <a:latin typeface="Arial" pitchFamily="34" charset="0"/>
              <a:cs typeface="Arial" pitchFamily="34" charset="-120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Wingdings" panose="05000000000000000000" pitchFamily="2" charset="2"/>
              <a:buChar char="à"/>
            </a:pPr>
            <a:r>
              <a:rPr lang="en-US" sz="1350" dirty="0">
                <a:latin typeface="Arial" pitchFamily="34" charset="0"/>
                <a:cs typeface="Arial" pitchFamily="34" charset="-120"/>
              </a:rPr>
              <a:t>Warehouse data: 19 records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350" dirty="0">
                <a:latin typeface="Arial" pitchFamily="34" charset="0"/>
                <a:cs typeface="Arial" pitchFamily="34" charset="-120"/>
              </a:rPr>
              <a:t>(facility-level performance)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CB9D79-F70F-71DB-0038-00AAE2DD5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829" y="427923"/>
            <a:ext cx="4862580" cy="448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170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79332" y="426555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20"/>
              </a:lnSpc>
            </a:pPr>
            <a:r>
              <a:rPr lang="en-US" sz="2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Techniques Used</a:t>
            </a:r>
            <a:endParaRPr lang="en-US" sz="2800" dirty="0"/>
          </a:p>
          <a:p>
            <a:pPr marL="0" indent="0" algn="ctr">
              <a:lnSpc>
                <a:spcPts val="2520"/>
              </a:lnSpc>
              <a:buNone/>
            </a:pPr>
            <a:r>
              <a:rPr lang="en-US" sz="2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79332" y="943589"/>
            <a:ext cx="7461504" cy="3551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Python </a:t>
            </a:r>
            <a:b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   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EDA : Pandas, NumPy, Matplotlib, Seaborn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  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Data Cleaning &amp; Preprocessing: Missing value handling, IQR Outlier Treatment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  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Statistical Analysis: T-Test (</a:t>
            </a:r>
            <a:r>
              <a:rPr lang="en-US" sz="14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CLT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), Chi-Square Test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  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Predictive Modeling (Regression): Linear Regression, Random Forest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  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Classification Modeling: Logistic Regression, KNN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  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Clustering &amp; Segmentation: K-Means Clustering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  <a:sym typeface="Wingdings" panose="05000000000000000000" pitchFamily="2" charset="2"/>
              </a:rPr>
              <a:t>  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Model Optimization: Train-Test Split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itchFamily="34" charset="0"/>
                <a:cs typeface="Arial" pitchFamily="34" charset="-120"/>
              </a:rPr>
              <a:t>Excel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itchFamily="34" charset="0"/>
                <a:cs typeface="Arial" pitchFamily="34" charset="-120"/>
              </a:rPr>
              <a:t>Power BI</a:t>
            </a:r>
          </a:p>
        </p:txBody>
      </p:sp>
      <p:sp>
        <p:nvSpPr>
          <p:cNvPr id="8" name="Text 6"/>
          <p:cNvSpPr/>
          <p:nvPr/>
        </p:nvSpPr>
        <p:spPr>
          <a:xfrm>
            <a:off x="841248" y="2218068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endParaRPr lang="en-US"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3175ABA-EE90-E3A7-0774-F03E68ECC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ABEA86-28D6-FE71-4544-5C9A59040D9A}"/>
              </a:ext>
            </a:extLst>
          </p:cNvPr>
          <p:cNvSpPr/>
          <p:nvPr/>
        </p:nvSpPr>
        <p:spPr>
          <a:xfrm>
            <a:off x="609600" y="42055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240"/>
              </a:lnSpc>
            </a:pPr>
            <a:r>
              <a:rPr lang="en-US" sz="2400" b="1" dirty="0">
                <a:latin typeface="Arial" pitchFamily="34" charset="0"/>
                <a:cs typeface="Arial" pitchFamily="34" charset="-120"/>
              </a:rPr>
              <a:t>Delivery Performance</a:t>
            </a:r>
            <a:endParaRPr lang="en-US" sz="2400" dirty="0"/>
          </a:p>
          <a:p>
            <a:pPr marL="0" indent="0" algn="ctr">
              <a:lnSpc>
                <a:spcPts val="3240"/>
              </a:lnSpc>
              <a:buNone/>
            </a:pP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3307EC-6CEF-BBE6-0D2B-01122CFF81A0}"/>
              </a:ext>
            </a:extLst>
          </p:cNvPr>
          <p:cNvSpPr txBox="1"/>
          <p:nvPr/>
        </p:nvSpPr>
        <p:spPr>
          <a:xfrm>
            <a:off x="528366" y="3488256"/>
            <a:ext cx="547401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7200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-120"/>
              </a:rPr>
              <a:t>110K of 136K shipments were on time overall.</a:t>
            </a:r>
          </a:p>
          <a:p>
            <a:pPr indent="-7200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-120"/>
              </a:rPr>
              <a:t>Delay rate is 19.10%, showing nearly one in five shipments missed target.</a:t>
            </a:r>
          </a:p>
          <a:p>
            <a:pPr indent="-7200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-120"/>
              </a:rPr>
              <a:t>V444_0 recorded 1,528 delays, far above V444_1 at 360.</a:t>
            </a:r>
          </a:p>
          <a:p>
            <a:pPr indent="-7200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-120"/>
              </a:rPr>
              <a:t>PLANT03 drove most delays, with 1,380 under V444_0 alone.</a:t>
            </a:r>
          </a:p>
          <a:p>
            <a:pPr indent="-7200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-120"/>
              </a:rPr>
              <a:t>On-time delivery rate stays near 0.80 to 0.82, with limited improvement.</a:t>
            </a:r>
          </a:p>
          <a:p>
            <a:pPr>
              <a:buSzPct val="100000"/>
            </a:pPr>
            <a:r>
              <a:rPr lang="en-US" sz="1200" dirty="0">
                <a:latin typeface="Arial" pitchFamily="34" charset="0"/>
                <a:cs typeface="Arial" pitchFamily="34" charset="-120"/>
              </a:rPr>
              <a:t>Key insight:</a:t>
            </a:r>
          </a:p>
          <a:p>
            <a:pPr indent="-7200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-120"/>
              </a:rPr>
              <a:t>Delivery issues are concentrated in V444_0 and PLANT03 operations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A546A4-3AC3-1DDD-3CD9-1190D04EF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462" y="453535"/>
            <a:ext cx="5727172" cy="29536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16FBF7-382D-C766-5E44-929ECAC4C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636" y="453535"/>
            <a:ext cx="2935364" cy="447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83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FDA8A50-A792-091C-5267-88785B824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163563D-0CC6-A5B1-44A3-786AC47FEAE1}"/>
              </a:ext>
            </a:extLst>
          </p:cNvPr>
          <p:cNvSpPr/>
          <p:nvPr/>
        </p:nvSpPr>
        <p:spPr>
          <a:xfrm>
            <a:off x="530350" y="115504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240"/>
              </a:lnSpc>
            </a:pPr>
            <a:r>
              <a:rPr lang="en-US" sz="2400" b="1" dirty="0">
                <a:latin typeface="Arial" pitchFamily="34" charset="0"/>
                <a:cs typeface="Arial" pitchFamily="34" charset="-120"/>
              </a:rPr>
              <a:t>	Cost Efficiency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9AF737-2D2A-52F9-95F3-27968255C1F8}"/>
              </a:ext>
            </a:extLst>
          </p:cNvPr>
          <p:cNvSpPr txBox="1"/>
          <p:nvPr/>
        </p:nvSpPr>
        <p:spPr>
          <a:xfrm>
            <a:off x="358548" y="3470048"/>
            <a:ext cx="559158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-120"/>
              </a:rPr>
              <a:t>Total logistics cost is 1.96M, with average cost per kg at 13.27.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-120"/>
              </a:rPr>
              <a:t>V444_1 contributes 17,51,198.19 transport cost versus 2,09,441.85 for V444_0.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-120"/>
              </a:rPr>
              <a:t>PLANT03 is the highest-cost node, especially V444_1 AIR at 16,56,750.27.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-120"/>
              </a:rPr>
              <a:t>V444_0 GROUND cost is concentrated at PLANT16 with 1,16,367.32.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-120"/>
              </a:rPr>
              <a:t>Damage is higher for V444_0 at 2,417 cases versus 1,674 for V444_1.</a:t>
            </a:r>
          </a:p>
          <a:p>
            <a:pPr>
              <a:buSzPct val="100000"/>
            </a:pPr>
            <a:r>
              <a:rPr lang="en-US" sz="1200" dirty="0">
                <a:latin typeface="Arial" pitchFamily="34" charset="0"/>
                <a:cs typeface="Arial" pitchFamily="34" charset="-120"/>
              </a:rPr>
              <a:t>Key insight: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-120"/>
              </a:rPr>
              <a:t>Cost is heavily concentrated in V444_1 AIR shipments from PLANT03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1EDB70-A669-A731-2F10-3E6934BBF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70" y="557802"/>
            <a:ext cx="5414389" cy="28259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85561B-6FE6-4F06-0599-1C3ADF1A2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787" y="526984"/>
            <a:ext cx="2786665" cy="451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413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431AECD-84E5-1D3F-31E2-48D5142B3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037B99-1700-8838-279F-D0AA68D997F8}"/>
              </a:ext>
            </a:extLst>
          </p:cNvPr>
          <p:cNvSpPr/>
          <p:nvPr/>
        </p:nvSpPr>
        <p:spPr>
          <a:xfrm>
            <a:off x="609600" y="35838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240"/>
              </a:lnSpc>
            </a:pPr>
            <a:r>
              <a:rPr lang="en-US" sz="2400" b="1" dirty="0">
                <a:latin typeface="Arial" pitchFamily="34" charset="0"/>
                <a:cs typeface="Arial" pitchFamily="34" charset="-120"/>
              </a:rPr>
              <a:t>Warehouse</a:t>
            </a:r>
            <a:r>
              <a:rPr lang="en-US" sz="2400" b="1" dirty="0">
                <a:solidFill>
                  <a:srgbClr val="0284C7"/>
                </a:solidFill>
                <a:latin typeface="Arial" pitchFamily="34" charset="0"/>
                <a:cs typeface="Arial" pitchFamily="34" charset="-120"/>
              </a:rPr>
              <a:t> 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39CE9B-F2B9-76B2-A554-4FBA22BC7B7D}"/>
              </a:ext>
            </a:extLst>
          </p:cNvPr>
          <p:cNvSpPr txBox="1"/>
          <p:nvPr/>
        </p:nvSpPr>
        <p:spPr>
          <a:xfrm>
            <a:off x="4723185" y="2592417"/>
            <a:ext cx="4015866" cy="2602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latin typeface="Arial" pitchFamily="34" charset="0"/>
                <a:cs typeface="Arial" pitchFamily="34" charset="-120"/>
              </a:rPr>
              <a:t>Average warehouse utilization is 66.65 across the visible network.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latin typeface="Arial" pitchFamily="34" charset="0"/>
                <a:cs typeface="Arial" pitchFamily="34" charset="-120"/>
              </a:rPr>
              <a:t>PLANT14 has the highest load at 82.50%, followed by PLANT18 at 82.03%.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latin typeface="Arial" pitchFamily="34" charset="0"/>
                <a:cs typeface="Arial" pitchFamily="34" charset="-120"/>
              </a:rPr>
              <a:t>PLANT03 carries the largest delivery volume, 48,530 for V444_0 and 79,360 for V444_1.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latin typeface="Arial" pitchFamily="34" charset="0"/>
                <a:cs typeface="Arial" pitchFamily="34" charset="-120"/>
              </a:rPr>
              <a:t>High utilization versus fulfillment speed by warehouse is not clearly visible.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000" dirty="0">
                <a:latin typeface="Arial" pitchFamily="34" charset="0"/>
                <a:cs typeface="Arial" pitchFamily="34" charset="-120"/>
              </a:rPr>
              <a:t>Key insight: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latin typeface="Arial" pitchFamily="34" charset="0"/>
                <a:cs typeface="Arial" pitchFamily="34" charset="-120"/>
              </a:rPr>
              <a:t>Warehouse demand is uneven, with heavy delivery concentration at PLANT03.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6BEF61-43F8-50FE-8BE0-A184BB286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37" y="444137"/>
            <a:ext cx="4505248" cy="437605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48ECF66-3187-E0BC-6EB3-3E778AEC91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675" y="444977"/>
            <a:ext cx="3495809" cy="212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323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BE0A868-5FF7-C1D9-34B3-047D38A5A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03A76368-6F7B-CBF8-E547-EEFFAE49798B}"/>
              </a:ext>
            </a:extLst>
          </p:cNvPr>
          <p:cNvSpPr/>
          <p:nvPr/>
        </p:nvSpPr>
        <p:spPr>
          <a:xfrm>
            <a:off x="625052" y="135600"/>
            <a:ext cx="8083296" cy="837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600" b="1" dirty="0">
                <a:latin typeface="Arial" pitchFamily="34" charset="0"/>
                <a:cs typeface="Arial" pitchFamily="34" charset="-120"/>
              </a:rPr>
              <a:t>Taking support of LLM model (</a:t>
            </a:r>
            <a:r>
              <a:rPr lang="en-US" sz="2600" b="1" dirty="0" err="1">
                <a:latin typeface="Arial" pitchFamily="34" charset="0"/>
                <a:cs typeface="Arial" pitchFamily="34" charset="-120"/>
              </a:rPr>
              <a:t>Groq</a:t>
            </a:r>
            <a:r>
              <a:rPr lang="en-US" sz="2600" b="1" dirty="0">
                <a:latin typeface="Arial" pitchFamily="34" charset="0"/>
                <a:cs typeface="Arial" pitchFamily="34" charset="-120"/>
              </a:rPr>
              <a:t> Api) to identify the root cause and recommend the root cause</a:t>
            </a:r>
            <a:endParaRPr lang="en-US" sz="2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F302DA9-24E4-E3DF-A87F-8DE61474FB5B}"/>
              </a:ext>
            </a:extLst>
          </p:cNvPr>
          <p:cNvSpPr/>
          <p:nvPr/>
        </p:nvSpPr>
        <p:spPr>
          <a:xfrm>
            <a:off x="688848" y="973184"/>
            <a:ext cx="7461504" cy="3551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Arial" pitchFamily="34" charset="0"/>
                <a:cs typeface="Arial" pitchFamily="34" charset="-120"/>
              </a:rPr>
              <a:t>Problem statement given to the LLM Model :</a:t>
            </a:r>
          </a:p>
          <a:p>
            <a:pPr>
              <a:lnSpc>
                <a:spcPct val="150000"/>
              </a:lnSpc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Identify delays and improve on-time delivery the overall objective is to reduce operational cost</a:t>
            </a:r>
          </a:p>
          <a:p>
            <a:pPr>
              <a:lnSpc>
                <a:spcPct val="150000"/>
              </a:lnSpc>
            </a:pPr>
            <a:endParaRPr lang="en-US" sz="1350" dirty="0">
              <a:solidFill>
                <a:srgbClr val="475569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" pitchFamily="34" charset="0"/>
                <a:cs typeface="Arial" pitchFamily="34" charset="-120"/>
              </a:rPr>
              <a:t>Objective</a:t>
            </a:r>
            <a:r>
              <a:rPr lang="en-IN" sz="1600" b="1" dirty="0">
                <a:latin typeface="Arial" pitchFamily="34" charset="0"/>
                <a:cs typeface="Arial" pitchFamily="34" charset="-120"/>
              </a:rPr>
              <a:t> given to the LLM Model </a:t>
            </a:r>
          </a:p>
          <a:p>
            <a:pPr>
              <a:lnSpc>
                <a:spcPct val="150000"/>
              </a:lnSpc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Why the Lead time is high in plant 3 , plant 1 and how does it affect the operational cost ? Return the output in table or bullet points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" pitchFamily="34" charset="0"/>
                <a:cs typeface="Arial" pitchFamily="34" charset="-120"/>
              </a:rPr>
              <a:t>Solution provided by </a:t>
            </a:r>
            <a:r>
              <a:rPr lang="en-IN" sz="1600" b="1" dirty="0">
                <a:latin typeface="Arial" pitchFamily="34" charset="0"/>
                <a:cs typeface="Arial" pitchFamily="34" charset="-120"/>
              </a:rPr>
              <a:t>the LLM Model</a:t>
            </a:r>
          </a:p>
          <a:p>
            <a:pPr>
              <a:lnSpc>
                <a:spcPct val="150000"/>
              </a:lnSpc>
            </a:pPr>
            <a:r>
              <a:rPr lang="en-IN" sz="135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	</a:t>
            </a:r>
          </a:p>
          <a:p>
            <a:pPr algn="l">
              <a:lnSpc>
                <a:spcPct val="150000"/>
              </a:lnSpc>
            </a:pPr>
            <a:endParaRPr lang="en-US" sz="1350" dirty="0">
              <a:solidFill>
                <a:srgbClr val="475569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595532E-6EAE-03E5-1ED6-0CB3307F9265}"/>
              </a:ext>
            </a:extLst>
          </p:cNvPr>
          <p:cNvSpPr/>
          <p:nvPr/>
        </p:nvSpPr>
        <p:spPr>
          <a:xfrm>
            <a:off x="841248" y="2218068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endParaRPr lang="en-US" sz="21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D68CFF-C091-FE3C-125C-43D3B412B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3" y="3265714"/>
            <a:ext cx="8934994" cy="187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659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8B3222C-E68E-533E-0DDA-C0779D0B4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CF6A75C-C45B-2CD2-21D2-A5F8E1D176E5}"/>
              </a:ext>
            </a:extLst>
          </p:cNvPr>
          <p:cNvSpPr/>
          <p:nvPr/>
        </p:nvSpPr>
        <p:spPr>
          <a:xfrm>
            <a:off x="530352" y="62601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240"/>
              </a:lnSpc>
            </a:pPr>
            <a:r>
              <a:rPr lang="en-US" sz="2400" b="1" dirty="0">
                <a:latin typeface="Arial" pitchFamily="34" charset="0"/>
                <a:cs typeface="Arial" pitchFamily="34" charset="-120"/>
              </a:rPr>
              <a:t>	Inventory Management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8A8B4C-D2DC-93F1-CCC2-8AC141D28295}"/>
              </a:ext>
            </a:extLst>
          </p:cNvPr>
          <p:cNvSpPr txBox="1"/>
          <p:nvPr/>
        </p:nvSpPr>
        <p:spPr>
          <a:xfrm>
            <a:off x="437798" y="3369930"/>
            <a:ext cx="592381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-120"/>
              </a:rPr>
              <a:t>PLANT03 holds the highest stock on hand at 781 units.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-120"/>
              </a:rPr>
              <a:t>PLANT01 is a distant second with 220 units, far below PLANT03.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-120"/>
              </a:rPr>
              <a:t>Lowest visible stock is PLANT07 with only 29 units.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-120"/>
              </a:rPr>
              <a:t>Inventory carrying cost by warehouse is not visible in dashboard.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-120"/>
              </a:rPr>
              <a:t>Reorder flag rates and stockout prevention effectiveness are not visible.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endParaRPr lang="en-US" sz="1200" dirty="0">
              <a:latin typeface="Arial" pitchFamily="34" charset="0"/>
              <a:cs typeface="Arial" pitchFamily="34" charset="-120"/>
            </a:endParaRPr>
          </a:p>
          <a:p>
            <a:pPr>
              <a:buSzPct val="100000"/>
            </a:pPr>
            <a:r>
              <a:rPr lang="en-US" sz="1200" dirty="0">
                <a:latin typeface="Arial" pitchFamily="34" charset="0"/>
                <a:cs typeface="Arial" pitchFamily="34" charset="-120"/>
              </a:rPr>
              <a:t>Key insight: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-120"/>
              </a:rPr>
              <a:t>Inventory is strongly concentrated in PLANT03, while some warehouses hold low stock.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5DA397-6227-2B92-C9B7-FAB1CB0AB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66" y="501993"/>
            <a:ext cx="4897265" cy="28176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62D7DE-B8C8-A81E-39A6-D1ED734493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3569" y="532863"/>
            <a:ext cx="3171128" cy="405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160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F035B2-C4B5-9770-6C78-01DB9D7BC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4828"/>
            <a:ext cx="9144000" cy="413798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247E0757-6C0E-1E49-A70A-643FC42B37E8}"/>
              </a:ext>
            </a:extLst>
          </p:cNvPr>
          <p:cNvSpPr/>
          <p:nvPr/>
        </p:nvSpPr>
        <p:spPr>
          <a:xfrm>
            <a:off x="609600" y="115504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240"/>
              </a:lnSpc>
            </a:pPr>
            <a:r>
              <a:rPr lang="en-US" sz="2400" b="1" dirty="0">
                <a:latin typeface="Arial" pitchFamily="34" charset="0"/>
                <a:cs typeface="Arial" pitchFamily="34" charset="-120"/>
              </a:rPr>
              <a:t>	Excel Dashboard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05782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EDF45D3-550B-FCC1-F277-BF890311F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AFDD11-DAEF-1004-09BA-2CF0B95EAFCB}"/>
              </a:ext>
            </a:extLst>
          </p:cNvPr>
          <p:cNvSpPr/>
          <p:nvPr/>
        </p:nvSpPr>
        <p:spPr>
          <a:xfrm>
            <a:off x="530352" y="14037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2700" b="1">
                <a:solidFill>
                  <a:srgbClr val="0284C7"/>
                </a:solidFill>
                <a:latin typeface="Arial" pitchFamily="34" charset="0"/>
                <a:cs typeface="Arial" pitchFamily="34" charset="-120"/>
              </a:rPr>
              <a:t>Statistical Analysis – (</a:t>
            </a:r>
            <a:r>
              <a:rPr lang="en-IN" sz="2700" b="1">
                <a:solidFill>
                  <a:srgbClr val="0284C7"/>
                </a:solidFill>
                <a:latin typeface="Arial" pitchFamily="34" charset="0"/>
                <a:cs typeface="Arial" pitchFamily="34" charset="-120"/>
              </a:rPr>
              <a:t>T-Test, Chi-Square Test</a:t>
            </a:r>
            <a:r>
              <a:rPr lang="en-US" sz="2700" b="1">
                <a:solidFill>
                  <a:srgbClr val="0284C7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27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49973E-C005-EB7B-F6AA-D16D2978C115}"/>
              </a:ext>
            </a:extLst>
          </p:cNvPr>
          <p:cNvSpPr/>
          <p:nvPr/>
        </p:nvSpPr>
        <p:spPr>
          <a:xfrm>
            <a:off x="482900" y="707871"/>
            <a:ext cx="3678553" cy="4451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/>
              <a:t> T Test</a:t>
            </a:r>
          </a:p>
          <a:p>
            <a:endParaRPr lang="en-US" sz="1200" dirty="0"/>
          </a:p>
          <a:p>
            <a:r>
              <a:rPr lang="en-US" sz="1200" b="1" dirty="0"/>
              <a:t>Objective: </a:t>
            </a:r>
            <a:r>
              <a:rPr lang="en-US" sz="1200" dirty="0"/>
              <a:t>Compare transportation cost between delivery modes.</a:t>
            </a:r>
          </a:p>
          <a:p>
            <a:endParaRPr lang="en-US" sz="1200" dirty="0"/>
          </a:p>
          <a:p>
            <a:r>
              <a:rPr lang="en-US" sz="1200" b="1" dirty="0"/>
              <a:t>H₀</a:t>
            </a:r>
            <a:r>
              <a:rPr lang="en-US" sz="1200" dirty="0"/>
              <a:t>: No cost difference between AIR and GROUND.</a:t>
            </a:r>
          </a:p>
          <a:p>
            <a:r>
              <a:rPr lang="en-US" sz="1200" b="1" dirty="0"/>
              <a:t>H₁</a:t>
            </a:r>
            <a:r>
              <a:rPr lang="en-US" sz="1200" dirty="0"/>
              <a:t>: Significant cost difference exists.</a:t>
            </a:r>
          </a:p>
          <a:p>
            <a:endParaRPr lang="en-US" sz="1200" dirty="0"/>
          </a:p>
          <a:p>
            <a:r>
              <a:rPr lang="en-IN" sz="1200" b="1" dirty="0"/>
              <a:t>Output: </a:t>
            </a:r>
            <a:r>
              <a:rPr lang="en-IN" sz="1200" dirty="0"/>
              <a:t>Reject H₀.</a:t>
            </a:r>
          </a:p>
          <a:p>
            <a:endParaRPr lang="en-US" sz="1200" dirty="0"/>
          </a:p>
          <a:p>
            <a:r>
              <a:rPr lang="en-US" sz="1200" b="1" dirty="0"/>
              <a:t>Sample Size: </a:t>
            </a:r>
            <a:r>
              <a:rPr lang="en-US" sz="1200" dirty="0"/>
              <a:t>5 records from each value (Air and Ground Travel)</a:t>
            </a:r>
          </a:p>
          <a:p>
            <a:endParaRPr lang="en-US" sz="1200" dirty="0"/>
          </a:p>
          <a:p>
            <a:r>
              <a:rPr lang="en-US" sz="1200" b="1" dirty="0"/>
              <a:t>Insight</a:t>
            </a:r>
          </a:p>
          <a:p>
            <a:r>
              <a:rPr lang="en-US" sz="1200" dirty="0"/>
              <a:t>There is a statistically significant cost difference between AIR and GROUND shipments.</a:t>
            </a:r>
          </a:p>
          <a:p>
            <a:endParaRPr lang="en-US" sz="1200" dirty="0"/>
          </a:p>
          <a:p>
            <a:r>
              <a:rPr lang="en-US" sz="1200" b="1" dirty="0">
                <a:highlight>
                  <a:srgbClr val="FFFF00"/>
                </a:highlight>
              </a:rPr>
              <a:t>Business Benefit</a:t>
            </a:r>
          </a:p>
          <a:p>
            <a:r>
              <a:rPr lang="en-US" sz="1200" dirty="0">
                <a:highlight>
                  <a:srgbClr val="FFFF00"/>
                </a:highlight>
              </a:rPr>
              <a:t>Shift non-urgent shipments to GROUND.</a:t>
            </a:r>
          </a:p>
          <a:p>
            <a:r>
              <a:rPr lang="en-US" sz="1200" dirty="0">
                <a:highlight>
                  <a:srgbClr val="FFFF00"/>
                </a:highlight>
              </a:rPr>
              <a:t>Reduce transportation cost through better mode selection.</a:t>
            </a:r>
          </a:p>
          <a:p>
            <a:r>
              <a:rPr lang="en-US" sz="1200" dirty="0">
                <a:highlight>
                  <a:srgbClr val="FFFF00"/>
                </a:highlight>
              </a:rPr>
              <a:t>Support mode optimization strategy.</a:t>
            </a:r>
            <a:endParaRPr lang="en-US" sz="1200" dirty="0">
              <a:solidFill>
                <a:srgbClr val="475569"/>
              </a:solidFill>
              <a:highlight>
                <a:srgbClr val="FFFF00"/>
              </a:highlight>
              <a:latin typeface="Arial" pitchFamily="34" charset="0"/>
              <a:cs typeface="Arial" pitchFamily="34" charset="-12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76ABF13-29B7-2A87-E0B3-C2A52E2F99E3}"/>
              </a:ext>
            </a:extLst>
          </p:cNvPr>
          <p:cNvSpPr/>
          <p:nvPr/>
        </p:nvSpPr>
        <p:spPr>
          <a:xfrm>
            <a:off x="4789716" y="741572"/>
            <a:ext cx="3678553" cy="417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/>
              <a:t>Chi-Square Test </a:t>
            </a:r>
            <a:br>
              <a:rPr lang="en-US" sz="1200" b="1" dirty="0"/>
            </a:br>
            <a:br>
              <a:rPr lang="en-US" sz="1200" b="1" dirty="0"/>
            </a:br>
            <a:r>
              <a:rPr lang="en-US" sz="1200" b="1" dirty="0"/>
              <a:t>Objective:</a:t>
            </a:r>
            <a:r>
              <a:rPr lang="en-US" sz="1200" dirty="0"/>
              <a:t> Determine whether carrier selection affects delivery performance.</a:t>
            </a:r>
            <a:br>
              <a:rPr lang="en-US" sz="1200" dirty="0"/>
            </a:br>
            <a:endParaRPr lang="en-US" sz="1200" dirty="0"/>
          </a:p>
          <a:p>
            <a:pPr>
              <a:buNone/>
            </a:pPr>
            <a:r>
              <a:rPr lang="en-IN" sz="1200" b="1" dirty="0"/>
              <a:t>H₀</a:t>
            </a:r>
            <a:r>
              <a:rPr lang="en-IN" sz="1200" dirty="0"/>
              <a:t>: Carrier does not affect delivery performance.</a:t>
            </a:r>
          </a:p>
          <a:p>
            <a:pPr>
              <a:buNone/>
            </a:pPr>
            <a:r>
              <a:rPr lang="en-IN" sz="1200" b="1" dirty="0"/>
              <a:t>H₁</a:t>
            </a:r>
            <a:r>
              <a:rPr lang="en-IN" sz="1200" dirty="0"/>
              <a:t>: Carrier affects delivery performance.</a:t>
            </a:r>
          </a:p>
          <a:p>
            <a:pPr>
              <a:buNone/>
            </a:pPr>
            <a:endParaRPr lang="en-IN" sz="1200" dirty="0"/>
          </a:p>
          <a:p>
            <a:pPr>
              <a:buNone/>
            </a:pPr>
            <a:r>
              <a:rPr lang="en-IN" sz="1200" b="1" dirty="0"/>
              <a:t>Output: </a:t>
            </a:r>
            <a:r>
              <a:rPr lang="en-IN" sz="1200" dirty="0"/>
              <a:t>Reject H₀.</a:t>
            </a:r>
          </a:p>
          <a:p>
            <a:pPr>
              <a:buNone/>
            </a:pPr>
            <a:endParaRPr lang="en-IN" sz="1200" dirty="0"/>
          </a:p>
          <a:p>
            <a:pPr>
              <a:buNone/>
            </a:pPr>
            <a:r>
              <a:rPr lang="en-IN" sz="1200" b="1" dirty="0"/>
              <a:t>Insight:</a:t>
            </a:r>
          </a:p>
          <a:p>
            <a:pPr>
              <a:buNone/>
            </a:pPr>
            <a:r>
              <a:rPr lang="en-IN" sz="1200" dirty="0"/>
              <a:t>Carrier selection significantly impacts delivery performance.</a:t>
            </a:r>
          </a:p>
          <a:p>
            <a:pPr>
              <a:buNone/>
            </a:pPr>
            <a:endParaRPr lang="en-IN" sz="1200" dirty="0"/>
          </a:p>
          <a:p>
            <a:pPr>
              <a:buNone/>
            </a:pPr>
            <a:r>
              <a:rPr lang="en-IN" sz="1200" b="1" dirty="0">
                <a:highlight>
                  <a:srgbClr val="FFFF00"/>
                </a:highlight>
              </a:rPr>
              <a:t>Business Benefit:</a:t>
            </a:r>
          </a:p>
          <a:p>
            <a:pPr>
              <a:buNone/>
            </a:pPr>
            <a:r>
              <a:rPr lang="en-IN" sz="1200" dirty="0">
                <a:highlight>
                  <a:srgbClr val="FFFF00"/>
                </a:highlight>
              </a:rPr>
              <a:t>Identify high-delay carriers.</a:t>
            </a:r>
          </a:p>
          <a:p>
            <a:pPr>
              <a:buNone/>
            </a:pPr>
            <a:r>
              <a:rPr lang="en-IN" sz="1200" dirty="0">
                <a:highlight>
                  <a:srgbClr val="FFFF00"/>
                </a:highlight>
              </a:rPr>
              <a:t>Improve SLA performance.</a:t>
            </a:r>
          </a:p>
          <a:p>
            <a:pPr>
              <a:buNone/>
            </a:pPr>
            <a:r>
              <a:rPr lang="en-IN" sz="1200" dirty="0">
                <a:highlight>
                  <a:srgbClr val="FFFF00"/>
                </a:highlight>
              </a:rPr>
              <a:t>Optimize carrier allocation strategy.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778783-F7B9-EFC8-06B9-FEA3D976376B}"/>
              </a:ext>
            </a:extLst>
          </p:cNvPr>
          <p:cNvCxnSpPr/>
          <p:nvPr/>
        </p:nvCxnSpPr>
        <p:spPr>
          <a:xfrm>
            <a:off x="4354285" y="741572"/>
            <a:ext cx="0" cy="4173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2449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133B425-1039-EB27-CB49-4ECEE9EF3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910C735-DCD2-B19A-3F5C-509AE084DDBB}"/>
              </a:ext>
            </a:extLst>
          </p:cNvPr>
          <p:cNvSpPr/>
          <p:nvPr/>
        </p:nvSpPr>
        <p:spPr>
          <a:xfrm>
            <a:off x="530352" y="19812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>
                <a:latin typeface="Arial" pitchFamily="34" charset="0"/>
                <a:cs typeface="Arial" pitchFamily="34" charset="-120"/>
              </a:rPr>
              <a:t>K-Means Clustering</a:t>
            </a:r>
            <a:endParaRPr lang="en-US" sz="27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03F44E-B6BC-8C8B-2B84-73CF31E77BF9}"/>
              </a:ext>
            </a:extLst>
          </p:cNvPr>
          <p:cNvSpPr/>
          <p:nvPr/>
        </p:nvSpPr>
        <p:spPr>
          <a:xfrm>
            <a:off x="261259" y="750771"/>
            <a:ext cx="3765452" cy="4302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b="1" dirty="0"/>
              <a:t>Purpose of ML Model: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To segment warehouses based on operational cost, labor hours, and capacity.</a:t>
            </a:r>
          </a:p>
          <a:p>
            <a:pPr>
              <a:lnSpc>
                <a:spcPct val="150000"/>
              </a:lnSpc>
            </a:pP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b="1" dirty="0"/>
              <a:t>Green Cluster </a:t>
            </a:r>
            <a:r>
              <a:rPr lang="en-US" sz="1200" dirty="0">
                <a:sym typeface="Wingdings" panose="05000000000000000000" pitchFamily="2" charset="2"/>
              </a:rPr>
              <a:t> High productivity Low operational cost 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b="1" dirty="0"/>
              <a:t>Amber cluster </a:t>
            </a:r>
            <a:r>
              <a:rPr lang="en-US" sz="1200" dirty="0">
                <a:sym typeface="Wingdings" panose="05000000000000000000" pitchFamily="2" charset="2"/>
              </a:rPr>
              <a:t> High productivity High operational cost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Yellow cluster </a:t>
            </a:r>
            <a:r>
              <a:rPr lang="en-US" sz="1200" dirty="0">
                <a:sym typeface="Wingdings" panose="05000000000000000000" pitchFamily="2" charset="2"/>
              </a:rPr>
              <a:t> Low productivity Low operational cost </a:t>
            </a:r>
            <a:endParaRPr lang="en-US" sz="1200" dirty="0"/>
          </a:p>
          <a:p>
            <a:pPr>
              <a:lnSpc>
                <a:spcPct val="150000"/>
              </a:lnSpc>
            </a:pP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b="1" dirty="0">
                <a:highlight>
                  <a:srgbClr val="FFFF00"/>
                </a:highlight>
              </a:rPr>
              <a:t>Business Benefit: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highlight>
                  <a:srgbClr val="FFFF00"/>
                </a:highlight>
              </a:rPr>
              <a:t>We identified the labors who are highly productive and lead to low operational cost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highlight>
                  <a:srgbClr val="FFFF00"/>
                </a:highlight>
              </a:rPr>
              <a:t>We also identified labor who are low in productivity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9FBA84-0C59-6395-7C0E-4FE1035E2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711" y="750771"/>
            <a:ext cx="4914815" cy="364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845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3F73564-1DCD-CEAD-ACE2-FC840D1AF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7059A31-402B-9BEA-3BC9-7CC6706F3B02}"/>
              </a:ext>
            </a:extLst>
          </p:cNvPr>
          <p:cNvSpPr/>
          <p:nvPr/>
        </p:nvSpPr>
        <p:spPr>
          <a:xfrm>
            <a:off x="530352" y="16724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240"/>
              </a:lnSpc>
            </a:pPr>
            <a:r>
              <a:rPr lang="en-US" sz="2700" b="1">
                <a:latin typeface="Arial" pitchFamily="34" charset="0"/>
                <a:cs typeface="Arial" pitchFamily="34" charset="-120"/>
              </a:rPr>
              <a:t>KNN Classifier </a:t>
            </a:r>
            <a:r>
              <a:rPr lang="en-US" sz="2800" b="1">
                <a:latin typeface="Arial" pitchFamily="34" charset="0"/>
                <a:cs typeface="Arial" pitchFamily="34" charset="-120"/>
              </a:rPr>
              <a:t>/ Logistic Regression</a:t>
            </a:r>
            <a:endParaRPr lang="en-US" sz="27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58B4DA1-5D2B-34CD-D121-DA22A417A622}"/>
              </a:ext>
            </a:extLst>
          </p:cNvPr>
          <p:cNvSpPr/>
          <p:nvPr/>
        </p:nvSpPr>
        <p:spPr>
          <a:xfrm>
            <a:off x="762001" y="708460"/>
            <a:ext cx="3745608" cy="426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ym typeface="Wingdings" panose="05000000000000000000" pitchFamily="2" charset="2"/>
              </a:rPr>
              <a:t> KNN Classifier </a:t>
            </a:r>
            <a:endParaRPr lang="en-US" sz="1200" b="1" dirty="0"/>
          </a:p>
          <a:p>
            <a:endParaRPr lang="en-US" sz="1200" dirty="0"/>
          </a:p>
          <a:p>
            <a:r>
              <a:rPr lang="en-US" sz="1200" b="1" dirty="0"/>
              <a:t>Purpose of ML Model:</a:t>
            </a:r>
          </a:p>
          <a:p>
            <a:r>
              <a:rPr lang="en-US" sz="1200" dirty="0"/>
              <a:t>To classify shipment delivery outcomes using shipment and carrier patterns.</a:t>
            </a:r>
          </a:p>
          <a:p>
            <a:endParaRPr lang="en-US" sz="1200" dirty="0"/>
          </a:p>
          <a:p>
            <a:r>
              <a:rPr lang="en-US" sz="1200" b="1" dirty="0"/>
              <a:t>Input Data:</a:t>
            </a:r>
          </a:p>
          <a:p>
            <a:r>
              <a:rPr lang="en-US" sz="1200" dirty="0"/>
              <a:t>Weight, Delivery Mode, Carrier Name.</a:t>
            </a:r>
          </a:p>
          <a:p>
            <a:endParaRPr lang="en-US" sz="1200" dirty="0"/>
          </a:p>
          <a:p>
            <a:r>
              <a:rPr lang="en-US" sz="1200" b="1" dirty="0"/>
              <a:t>Output Of ML Models:</a:t>
            </a:r>
          </a:p>
          <a:p>
            <a:r>
              <a:rPr lang="en-US" sz="1200" dirty="0"/>
              <a:t>On-Time Delivery Flag.</a:t>
            </a:r>
          </a:p>
          <a:p>
            <a:endParaRPr lang="en-US" sz="1200" dirty="0"/>
          </a:p>
          <a:p>
            <a:r>
              <a:rPr lang="en-US" sz="1200" b="1" dirty="0"/>
              <a:t>Model Performance:</a:t>
            </a:r>
          </a:p>
          <a:p>
            <a:r>
              <a:rPr lang="en-US" sz="1200" dirty="0"/>
              <a:t>Accuracy Score: 0.794, F1 Score: 0.863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Reliable model with good scores.</a:t>
            </a:r>
          </a:p>
          <a:p>
            <a:endParaRPr lang="en-US" sz="1200" dirty="0"/>
          </a:p>
          <a:p>
            <a:r>
              <a:rPr lang="en-US" sz="1200" dirty="0">
                <a:highlight>
                  <a:srgbClr val="FFFF00"/>
                </a:highlight>
              </a:rPr>
              <a:t>Business Benefit:</a:t>
            </a:r>
          </a:p>
          <a:p>
            <a:r>
              <a:rPr lang="en-US" sz="1200" dirty="0">
                <a:highlight>
                  <a:srgbClr val="FFFF00"/>
                </a:highlight>
              </a:rPr>
              <a:t>Identify delay-prone shipment patterns.</a:t>
            </a:r>
          </a:p>
          <a:p>
            <a:r>
              <a:rPr lang="en-US" sz="1200" dirty="0">
                <a:highlight>
                  <a:srgbClr val="FFFF00"/>
                </a:highlight>
              </a:rPr>
              <a:t>Compare current shipments with similar past cases.</a:t>
            </a:r>
          </a:p>
          <a:p>
            <a:r>
              <a:rPr lang="en-US" sz="1200" dirty="0">
                <a:highlight>
                  <a:srgbClr val="FFFF00"/>
                </a:highlight>
              </a:rPr>
              <a:t>Strengthen delivery risk review decisions</a:t>
            </a:r>
            <a:r>
              <a:rPr lang="en-US" sz="1200" dirty="0"/>
              <a:t>.</a:t>
            </a:r>
            <a:endParaRPr lang="en-IN" sz="1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598C513-977B-691F-E9D9-4F174BB3A5C6}"/>
              </a:ext>
            </a:extLst>
          </p:cNvPr>
          <p:cNvSpPr/>
          <p:nvPr/>
        </p:nvSpPr>
        <p:spPr>
          <a:xfrm>
            <a:off x="4636393" y="708460"/>
            <a:ext cx="4469674" cy="4375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ym typeface="Wingdings" panose="05000000000000000000" pitchFamily="2" charset="2"/>
              </a:rPr>
              <a:t> Logistic Regression</a:t>
            </a:r>
            <a:endParaRPr lang="en-US" sz="1200" b="1" dirty="0"/>
          </a:p>
          <a:p>
            <a:endParaRPr lang="en-US" sz="1200" dirty="0"/>
          </a:p>
          <a:p>
            <a:r>
              <a:rPr lang="en-US" sz="1200" b="1" dirty="0"/>
              <a:t>Purpose of ML Model:</a:t>
            </a:r>
          </a:p>
          <a:p>
            <a:r>
              <a:rPr lang="en-US" sz="1200" dirty="0"/>
              <a:t>To predict whether a shipment will be on time or delayed.</a:t>
            </a:r>
          </a:p>
          <a:p>
            <a:endParaRPr lang="en-US" sz="1200" dirty="0"/>
          </a:p>
          <a:p>
            <a:r>
              <a:rPr lang="en-US" sz="1200" b="1" dirty="0"/>
              <a:t>Input Data:</a:t>
            </a:r>
          </a:p>
          <a:p>
            <a:r>
              <a:rPr lang="en-US" sz="1200" dirty="0"/>
              <a:t>Weight, Delivery Mode.</a:t>
            </a:r>
          </a:p>
          <a:p>
            <a:endParaRPr lang="en-US" sz="1200" dirty="0"/>
          </a:p>
          <a:p>
            <a:r>
              <a:rPr lang="en-US" sz="1200" b="1" dirty="0"/>
              <a:t>Output Of ML Models:</a:t>
            </a:r>
          </a:p>
          <a:p>
            <a:r>
              <a:rPr lang="en-US" sz="1200" dirty="0"/>
              <a:t>On-Time Delivery Flag.</a:t>
            </a:r>
          </a:p>
          <a:p>
            <a:endParaRPr lang="en-US" sz="1200" dirty="0"/>
          </a:p>
          <a:p>
            <a:r>
              <a:rPr lang="en-US" sz="1200" b="1" dirty="0"/>
              <a:t>Model Performance:</a:t>
            </a:r>
          </a:p>
          <a:p>
            <a:r>
              <a:rPr lang="en-US" sz="1200" dirty="0"/>
              <a:t>Accuracy Score: 0.808, F1 Score: 0.894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Reliable model with good scores.</a:t>
            </a:r>
          </a:p>
          <a:p>
            <a:endParaRPr lang="en-US" sz="1200" dirty="0"/>
          </a:p>
          <a:p>
            <a:r>
              <a:rPr lang="en-US" sz="1200" dirty="0">
                <a:highlight>
                  <a:srgbClr val="FFFF00"/>
                </a:highlight>
              </a:rPr>
              <a:t>Business Benefit:</a:t>
            </a:r>
          </a:p>
          <a:p>
            <a:r>
              <a:rPr lang="en-US" sz="1200" dirty="0">
                <a:highlight>
                  <a:srgbClr val="FFFF00"/>
                </a:highlight>
              </a:rPr>
              <a:t>Improve proactive delivery planning.</a:t>
            </a:r>
          </a:p>
          <a:p>
            <a:r>
              <a:rPr lang="en-US" sz="1200" dirty="0">
                <a:highlight>
                  <a:srgbClr val="FFFF00"/>
                </a:highlight>
              </a:rPr>
              <a:t>Alert teams on high-risk shipments early.</a:t>
            </a:r>
          </a:p>
          <a:p>
            <a:r>
              <a:rPr lang="en-US" sz="1200" dirty="0">
                <a:highlight>
                  <a:srgbClr val="FFFF00"/>
                </a:highlight>
              </a:rPr>
              <a:t>Support SLA improvement actions.</a:t>
            </a:r>
          </a:p>
          <a:p>
            <a:endParaRPr lang="en-US" sz="12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30C035-7C93-261B-5F76-DDA4666039B6}"/>
              </a:ext>
            </a:extLst>
          </p:cNvPr>
          <p:cNvCxnSpPr>
            <a:cxnSpLocks/>
          </p:cNvCxnSpPr>
          <p:nvPr/>
        </p:nvCxnSpPr>
        <p:spPr>
          <a:xfrm>
            <a:off x="4507608" y="708460"/>
            <a:ext cx="1" cy="411826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610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83F3232-67CE-EB10-A508-712425479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150773-8A2E-71EA-3C32-42C076F0BC1D}"/>
              </a:ext>
            </a:extLst>
          </p:cNvPr>
          <p:cNvSpPr/>
          <p:nvPr/>
        </p:nvSpPr>
        <p:spPr>
          <a:xfrm>
            <a:off x="609600" y="19812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240"/>
              </a:lnSpc>
            </a:pPr>
            <a:r>
              <a:rPr lang="en-US" sz="2400" b="1">
                <a:latin typeface="Arial" pitchFamily="34" charset="0"/>
                <a:cs typeface="Arial" pitchFamily="34" charset="-120"/>
              </a:rPr>
              <a:t>Random Forest Regression</a:t>
            </a:r>
            <a:endParaRPr lang="en-US" sz="2400"/>
          </a:p>
          <a:p>
            <a:pPr marL="0" indent="0" algn="ctr">
              <a:lnSpc>
                <a:spcPts val="3240"/>
              </a:lnSpc>
              <a:buNone/>
            </a:pPr>
            <a:endParaRPr lang="en-US"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E51A89-D890-76B0-1C81-EAB8C0207F78}"/>
              </a:ext>
            </a:extLst>
          </p:cNvPr>
          <p:cNvSpPr txBox="1"/>
          <p:nvPr/>
        </p:nvSpPr>
        <p:spPr>
          <a:xfrm>
            <a:off x="196429" y="665058"/>
            <a:ext cx="4026793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300" b="1" dirty="0"/>
              <a:t>Purpose of ML Model:</a:t>
            </a:r>
          </a:p>
          <a:p>
            <a:pPr>
              <a:buNone/>
            </a:pPr>
            <a:r>
              <a:rPr lang="en-US" sz="1300" dirty="0"/>
              <a:t>To predict shipment cost using shipment weight and carrier information.</a:t>
            </a:r>
          </a:p>
          <a:p>
            <a:pPr>
              <a:buNone/>
            </a:pPr>
            <a:endParaRPr lang="en-US" sz="1300" dirty="0"/>
          </a:p>
          <a:p>
            <a:pPr>
              <a:buNone/>
            </a:pPr>
            <a:r>
              <a:rPr lang="en-US" sz="1300" b="1" dirty="0"/>
              <a:t>Input Data:</a:t>
            </a:r>
          </a:p>
          <a:p>
            <a:pPr>
              <a:buNone/>
            </a:pPr>
            <a:r>
              <a:rPr lang="en-US" sz="1300" dirty="0"/>
              <a:t>Weight, Carrier Name (encoded).</a:t>
            </a:r>
          </a:p>
          <a:p>
            <a:pPr>
              <a:buNone/>
            </a:pPr>
            <a:endParaRPr lang="en-US" sz="1300" dirty="0"/>
          </a:p>
          <a:p>
            <a:pPr>
              <a:buNone/>
            </a:pPr>
            <a:r>
              <a:rPr lang="en-US" sz="1300" b="1" dirty="0"/>
              <a:t>Output Of ML Models:</a:t>
            </a:r>
          </a:p>
          <a:p>
            <a:pPr>
              <a:buNone/>
            </a:pPr>
            <a:r>
              <a:rPr lang="en-US" sz="1300" dirty="0"/>
              <a:t>Predicted Shipment Cost.</a:t>
            </a:r>
          </a:p>
          <a:p>
            <a:pPr>
              <a:buNone/>
            </a:pPr>
            <a:endParaRPr lang="en-US" sz="1300" dirty="0"/>
          </a:p>
          <a:p>
            <a:pPr>
              <a:buNone/>
            </a:pPr>
            <a:r>
              <a:rPr lang="en-US" sz="1300" b="1" dirty="0"/>
              <a:t>Model Performance:</a:t>
            </a:r>
          </a:p>
          <a:p>
            <a:pPr>
              <a:buNone/>
            </a:pPr>
            <a:r>
              <a:rPr lang="en-US" sz="1300" dirty="0"/>
              <a:t>R2 Score: 0.762, MAE: 15.68 – Reliable model with low error.</a:t>
            </a:r>
          </a:p>
          <a:p>
            <a:pPr>
              <a:buNone/>
            </a:pPr>
            <a:endParaRPr lang="en-US" sz="1300" dirty="0"/>
          </a:p>
          <a:p>
            <a:pPr>
              <a:buNone/>
            </a:pPr>
            <a:r>
              <a:rPr lang="en-US" sz="1300" dirty="0">
                <a:highlight>
                  <a:srgbClr val="FFFF00"/>
                </a:highlight>
              </a:rPr>
              <a:t>Business Benefit:</a:t>
            </a:r>
          </a:p>
          <a:p>
            <a:pPr>
              <a:buNone/>
            </a:pPr>
            <a:r>
              <a:rPr lang="en-US" sz="1300" dirty="0">
                <a:highlight>
                  <a:srgbClr val="FFFF00"/>
                </a:highlight>
              </a:rPr>
              <a:t>Improves shipment cost forecasting for better transport budget planning by predicting: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highlight>
                  <a:srgbClr val="FFFF00"/>
                </a:highlight>
              </a:rPr>
              <a:t>Predict shipment cost before dispatch.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highlight>
                  <a:srgbClr val="FFFF00"/>
                </a:highlight>
              </a:rPr>
              <a:t>Detect high-cost shipment patterns early.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highlight>
                  <a:srgbClr val="FFFF00"/>
                </a:highlight>
              </a:rPr>
              <a:t>Support pricing and carrier planning decisions.</a:t>
            </a:r>
            <a:endParaRPr lang="en-IN" sz="1300" dirty="0">
              <a:highlight>
                <a:srgbClr val="FFFF00"/>
              </a:highligh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E19048-72E4-4490-1ED2-7AB25AD3C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737" y="609600"/>
            <a:ext cx="4944291" cy="433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564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5BC28C2-3622-47F7-3885-D37A49B85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A561AC-8EF9-848E-73C7-9B16EFBA4833}"/>
              </a:ext>
            </a:extLst>
          </p:cNvPr>
          <p:cNvSpPr/>
          <p:nvPr/>
        </p:nvSpPr>
        <p:spPr>
          <a:xfrm>
            <a:off x="530352" y="192677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240"/>
              </a:lnSpc>
            </a:pPr>
            <a:r>
              <a:rPr lang="en-IN" sz="2700" b="1" dirty="0">
                <a:latin typeface="Arial" pitchFamily="34" charset="0"/>
                <a:cs typeface="Arial" pitchFamily="34" charset="-120"/>
              </a:rPr>
              <a:t>Summary</a:t>
            </a:r>
            <a:r>
              <a:rPr lang="en-IN" dirty="0"/>
              <a:t> </a:t>
            </a: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947BD9-BD23-7A84-FDDF-ABEC3D488B9C}"/>
              </a:ext>
            </a:extLst>
          </p:cNvPr>
          <p:cNvSpPr/>
          <p:nvPr/>
        </p:nvSpPr>
        <p:spPr>
          <a:xfrm>
            <a:off x="530352" y="891073"/>
            <a:ext cx="8365454" cy="4325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itchFamily="34" charset="0"/>
                <a:cs typeface="Arial" pitchFamily="34" charset="-120"/>
              </a:rPr>
              <a:t>136K total shipments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 were studied, with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110K on-time deliveries 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and a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19.10% delay 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rate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itchFamily="34" charset="0"/>
                <a:cs typeface="Arial" pitchFamily="34" charset="-120"/>
              </a:rPr>
              <a:t>On-time delivery 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is stable, but delays remain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concentrated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 in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V444_0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 and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PLANT03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itchFamily="34" charset="0"/>
                <a:cs typeface="Arial" pitchFamily="34" charset="-120"/>
              </a:rPr>
              <a:t>Warehouse utilization 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averaged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66.65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, with highest loads at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PLANT14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 at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 82.50 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and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PLANT18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 at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82.03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itchFamily="34" charset="0"/>
                <a:cs typeface="Arial" pitchFamily="34" charset="-120"/>
              </a:rPr>
              <a:t>V4441 AIR 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accounted for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17,51,198.19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 transport cost, and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PLANT03 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under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V4441 AIR 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alone contributed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16,56,750.27</a:t>
            </a:r>
          </a:p>
          <a:p>
            <a:pPr>
              <a:lnSpc>
                <a:spcPct val="200000"/>
              </a:lnSpc>
            </a:pPr>
            <a:r>
              <a:rPr lang="en-US" sz="1400" dirty="0">
                <a:latin typeface="Arial" pitchFamily="34" charset="0"/>
                <a:cs typeface="Arial" pitchFamily="34" charset="-120"/>
              </a:rPr>
              <a:t>.</a:t>
            </a:r>
          </a:p>
          <a:p>
            <a:pPr>
              <a:lnSpc>
                <a:spcPct val="200000"/>
              </a:lnSpc>
            </a:pPr>
            <a:endParaRPr lang="en-US" sz="1400" dirty="0">
              <a:latin typeface="Arial" pitchFamily="34" charset="0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73854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D34CAF5-8632-90D0-9BC3-D10D97035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109CC91-1BE4-A997-9409-C07FD6EFE141}"/>
              </a:ext>
            </a:extLst>
          </p:cNvPr>
          <p:cNvSpPr/>
          <p:nvPr/>
        </p:nvSpPr>
        <p:spPr>
          <a:xfrm>
            <a:off x="393192" y="300134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IN" sz="2400" b="1" dirty="0">
                <a:latin typeface="Arial" pitchFamily="34" charset="0"/>
                <a:cs typeface="Arial" pitchFamily="34" charset="-120"/>
              </a:rPr>
              <a:t>Summary Continued </a:t>
            </a:r>
            <a:endParaRPr lang="en-US" sz="2400" dirty="0"/>
          </a:p>
          <a:p>
            <a:pPr algn="ctr"/>
            <a:endParaRPr lang="en-IN" sz="2400" b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218AA30-0300-768C-E276-B8B16CC43A69}"/>
              </a:ext>
            </a:extLst>
          </p:cNvPr>
          <p:cNvSpPr/>
          <p:nvPr/>
        </p:nvSpPr>
        <p:spPr>
          <a:xfrm>
            <a:off x="325638" y="891384"/>
            <a:ext cx="8492724" cy="410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endParaRPr lang="en-US" sz="1400" dirty="0">
              <a:latin typeface="Arial" pitchFamily="34" charset="0"/>
              <a:cs typeface="Arial" pitchFamily="34" charset="-12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V4440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 was the main delay-risk carrier with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1,528 delays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, while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V4441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 had only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360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 delays.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Arial" pitchFamily="34" charset="0"/>
              <a:cs typeface="Arial" pitchFamily="34" charset="-12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PLANT03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 was the most critical node, contributing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1,380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 delays under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V4440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 and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79,000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 delivered shipments under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V4441.</a:t>
            </a:r>
            <a:endParaRPr lang="en-US" sz="1400" dirty="0">
              <a:latin typeface="Arial" pitchFamily="34" charset="0"/>
              <a:cs typeface="Arial" pitchFamily="34" charset="-120"/>
            </a:endParaRPr>
          </a:p>
          <a:p>
            <a:pPr>
              <a:lnSpc>
                <a:spcPct val="150000"/>
              </a:lnSpc>
            </a:pPr>
            <a:endParaRPr lang="en-US" sz="1400" dirty="0">
              <a:latin typeface="Arial" pitchFamily="34" charset="0"/>
              <a:cs typeface="Arial" pitchFamily="34" charset="-12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V4440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 also showed higher damage at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2,417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 cases compared with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1,674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 for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V4441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Arial" pitchFamily="34" charset="0"/>
              <a:cs typeface="Arial" pitchFamily="34" charset="-12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PLANT03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 handled the highest shipment volume and also held the highest stock on hand at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781 units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, while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PLANT07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 had only </a:t>
            </a:r>
            <a:r>
              <a:rPr lang="en-US" sz="1400" b="1" dirty="0">
                <a:latin typeface="Arial" pitchFamily="34" charset="0"/>
                <a:cs typeface="Arial" pitchFamily="34" charset="-120"/>
              </a:rPr>
              <a:t>29 units</a:t>
            </a:r>
            <a:r>
              <a:rPr lang="en-US" sz="1400" dirty="0">
                <a:latin typeface="Arial" pitchFamily="34" charset="0"/>
                <a:cs typeface="Arial" pitchFamily="34" charset="-120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Arial" pitchFamily="34" charset="0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42363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D1DE973-E97B-B41C-09F1-01F7C66C4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B5B5591-C97D-E55B-F4A7-F8041E670D1E}"/>
              </a:ext>
            </a:extLst>
          </p:cNvPr>
          <p:cNvSpPr/>
          <p:nvPr/>
        </p:nvSpPr>
        <p:spPr>
          <a:xfrm>
            <a:off x="569541" y="0"/>
            <a:ext cx="8083296" cy="452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240"/>
              </a:lnSpc>
            </a:pPr>
            <a:r>
              <a:rPr lang="en-IN" sz="2000" b="1" dirty="0">
                <a:latin typeface="Arial" pitchFamily="34" charset="0"/>
                <a:cs typeface="Arial" pitchFamily="34" charset="-120"/>
              </a:rPr>
              <a:t>Conclusion - Business Strategies to improve the Business </a:t>
            </a:r>
            <a:endParaRPr lang="en-US" sz="2000" b="1" dirty="0">
              <a:latin typeface="Arial" pitchFamily="34" charset="0"/>
              <a:cs typeface="Arial" pitchFamily="34" charset="-12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0B62DC-C79D-9C9D-C338-E66284CD0653}"/>
              </a:ext>
            </a:extLst>
          </p:cNvPr>
          <p:cNvSpPr/>
          <p:nvPr/>
        </p:nvSpPr>
        <p:spPr>
          <a:xfrm>
            <a:off x="320040" y="391886"/>
            <a:ext cx="8503920" cy="445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250000"/>
              </a:lnSpc>
            </a:pPr>
            <a:r>
              <a:rPr lang="en-US" sz="1100" b="1" dirty="0">
                <a:latin typeface="Arial" pitchFamily="34" charset="0"/>
                <a:cs typeface="Arial" pitchFamily="34" charset="-120"/>
              </a:rPr>
              <a:t>1. Improve Delivery Reliability</a:t>
            </a: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Arial" pitchFamily="34" charset="0"/>
                <a:cs typeface="Arial" pitchFamily="34" charset="-120"/>
              </a:rPr>
              <a:t>Prioritize route planning and delay-control actions for </a:t>
            </a:r>
            <a:r>
              <a:rPr lang="en-US" sz="1100" b="1" dirty="0">
                <a:latin typeface="Arial" pitchFamily="34" charset="0"/>
                <a:cs typeface="Arial" pitchFamily="34" charset="-120"/>
              </a:rPr>
              <a:t>V4440</a:t>
            </a:r>
            <a:r>
              <a:rPr lang="en-US" sz="1100" dirty="0">
                <a:latin typeface="Arial" pitchFamily="34" charset="0"/>
                <a:cs typeface="Arial" pitchFamily="34" charset="-120"/>
              </a:rPr>
              <a:t>, because it recorded </a:t>
            </a:r>
            <a:r>
              <a:rPr lang="en-US" sz="1100" b="1" dirty="0">
                <a:latin typeface="Arial" pitchFamily="34" charset="0"/>
                <a:cs typeface="Arial" pitchFamily="34" charset="-120"/>
              </a:rPr>
              <a:t>1,528 delays </a:t>
            </a:r>
            <a:r>
              <a:rPr lang="en-US" sz="1100" dirty="0">
                <a:latin typeface="Arial" pitchFamily="34" charset="0"/>
                <a:cs typeface="Arial" pitchFamily="34" charset="-120"/>
              </a:rPr>
              <a:t>compared with only </a:t>
            </a:r>
            <a:r>
              <a:rPr lang="en-US" sz="1100" b="1" dirty="0">
                <a:latin typeface="Arial" pitchFamily="34" charset="0"/>
                <a:cs typeface="Arial" pitchFamily="34" charset="-120"/>
              </a:rPr>
              <a:t>360</a:t>
            </a:r>
            <a:r>
              <a:rPr lang="en-US" sz="1100" dirty="0">
                <a:latin typeface="Arial" pitchFamily="34" charset="0"/>
                <a:cs typeface="Arial" pitchFamily="34" charset="-120"/>
              </a:rPr>
              <a:t> for </a:t>
            </a:r>
            <a:r>
              <a:rPr lang="en-US" sz="1100" b="1" dirty="0">
                <a:latin typeface="Arial" pitchFamily="34" charset="0"/>
                <a:cs typeface="Arial" pitchFamily="34" charset="-120"/>
              </a:rPr>
              <a:t>V4441</a:t>
            </a:r>
            <a:r>
              <a:rPr lang="en-US" sz="1100" dirty="0">
                <a:latin typeface="Arial" pitchFamily="34" charset="0"/>
                <a:cs typeface="Arial" pitchFamily="34" charset="-120"/>
              </a:rPr>
              <a:t>.</a:t>
            </a: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Arial" pitchFamily="34" charset="0"/>
                <a:cs typeface="Arial" pitchFamily="34" charset="-120"/>
              </a:rPr>
              <a:t>Focus immediate operational improvement at </a:t>
            </a:r>
            <a:r>
              <a:rPr lang="en-US" sz="1100" b="1" dirty="0">
                <a:latin typeface="Arial" pitchFamily="34" charset="0"/>
                <a:cs typeface="Arial" pitchFamily="34" charset="-120"/>
              </a:rPr>
              <a:t>PLANT03</a:t>
            </a:r>
            <a:r>
              <a:rPr lang="en-US" sz="1100" dirty="0">
                <a:latin typeface="Arial" pitchFamily="34" charset="0"/>
                <a:cs typeface="Arial" pitchFamily="34" charset="-120"/>
              </a:rPr>
              <a:t>, since it alone contributed </a:t>
            </a:r>
            <a:r>
              <a:rPr lang="en-US" sz="1100" b="1" dirty="0">
                <a:latin typeface="Arial" pitchFamily="34" charset="0"/>
                <a:cs typeface="Arial" pitchFamily="34" charset="-120"/>
              </a:rPr>
              <a:t>1,380 delays </a:t>
            </a:r>
            <a:r>
              <a:rPr lang="en-US" sz="1100" dirty="0">
                <a:latin typeface="Arial" pitchFamily="34" charset="0"/>
                <a:cs typeface="Arial" pitchFamily="34" charset="-120"/>
              </a:rPr>
              <a:t>under </a:t>
            </a:r>
            <a:r>
              <a:rPr lang="en-US" sz="1100" b="1" dirty="0">
                <a:latin typeface="Arial" pitchFamily="34" charset="0"/>
                <a:cs typeface="Arial" pitchFamily="34" charset="-120"/>
              </a:rPr>
              <a:t>V4440</a:t>
            </a:r>
            <a:r>
              <a:rPr lang="en-US" sz="1100" dirty="0">
                <a:latin typeface="Arial" pitchFamily="34" charset="0"/>
                <a:cs typeface="Arial" pitchFamily="34" charset="-120"/>
              </a:rPr>
              <a:t> and is the biggest delay hotspot.</a:t>
            </a:r>
          </a:p>
          <a:p>
            <a:pPr>
              <a:lnSpc>
                <a:spcPct val="250000"/>
              </a:lnSpc>
            </a:pPr>
            <a:r>
              <a:rPr lang="en-US" sz="1100" b="1" dirty="0">
                <a:latin typeface="Arial" pitchFamily="34" charset="0"/>
                <a:cs typeface="Arial" pitchFamily="34" charset="-120"/>
              </a:rPr>
              <a:t>2. Reduce Transportation Costs</a:t>
            </a: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Arial" pitchFamily="34" charset="0"/>
                <a:cs typeface="Arial" pitchFamily="34" charset="-120"/>
              </a:rPr>
              <a:t>Shift non-urgent shipments from </a:t>
            </a:r>
            <a:r>
              <a:rPr lang="en-US" sz="1100" b="1" dirty="0">
                <a:latin typeface="Arial" pitchFamily="34" charset="0"/>
                <a:cs typeface="Arial" pitchFamily="34" charset="-120"/>
              </a:rPr>
              <a:t>AIR to GROUND </a:t>
            </a:r>
            <a:r>
              <a:rPr lang="en-US" sz="1100" dirty="0">
                <a:latin typeface="Arial" pitchFamily="34" charset="0"/>
                <a:cs typeface="Arial" pitchFamily="34" charset="-120"/>
              </a:rPr>
              <a:t>where possible, because total logistics cost is </a:t>
            </a:r>
            <a:r>
              <a:rPr lang="en-US" sz="1100" b="1" dirty="0">
                <a:latin typeface="Arial" pitchFamily="34" charset="0"/>
                <a:cs typeface="Arial" pitchFamily="34" charset="-120"/>
              </a:rPr>
              <a:t>1.96M</a:t>
            </a:r>
            <a:r>
              <a:rPr lang="en-US" sz="1100" dirty="0">
                <a:latin typeface="Arial" pitchFamily="34" charset="0"/>
                <a:cs typeface="Arial" pitchFamily="34" charset="-120"/>
              </a:rPr>
              <a:t> and AIR-related cost concentration is very high.</a:t>
            </a: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Arial" pitchFamily="34" charset="0"/>
                <a:cs typeface="Arial" pitchFamily="34" charset="-120"/>
              </a:rPr>
              <a:t>Review pricing and transport strategy for </a:t>
            </a:r>
            <a:r>
              <a:rPr lang="en-US" sz="1100" b="1" dirty="0">
                <a:latin typeface="Arial" pitchFamily="34" charset="0"/>
                <a:cs typeface="Arial" pitchFamily="34" charset="-120"/>
              </a:rPr>
              <a:t>V4441 AIR </a:t>
            </a:r>
            <a:r>
              <a:rPr lang="en-US" sz="1100" dirty="0">
                <a:latin typeface="Arial" pitchFamily="34" charset="0"/>
                <a:cs typeface="Arial" pitchFamily="34" charset="-120"/>
              </a:rPr>
              <a:t>first, since it contributes </a:t>
            </a:r>
            <a:r>
              <a:rPr lang="en-US" sz="1100" b="1" dirty="0">
                <a:latin typeface="Arial" pitchFamily="34" charset="0"/>
                <a:cs typeface="Arial" pitchFamily="34" charset="-120"/>
              </a:rPr>
              <a:t>17,51,198.19</a:t>
            </a:r>
            <a:r>
              <a:rPr lang="en-US" sz="1100" dirty="0">
                <a:latin typeface="Arial" pitchFamily="34" charset="0"/>
                <a:cs typeface="Arial" pitchFamily="34" charset="-120"/>
              </a:rPr>
              <a:t> compared with only </a:t>
            </a:r>
            <a:r>
              <a:rPr lang="en-US" sz="1100" b="1" dirty="0">
                <a:latin typeface="Arial" pitchFamily="34" charset="0"/>
                <a:cs typeface="Arial" pitchFamily="34" charset="-120"/>
              </a:rPr>
              <a:t>2,09,441.85</a:t>
            </a:r>
            <a:r>
              <a:rPr lang="en-US" sz="1100" dirty="0">
                <a:latin typeface="Arial" pitchFamily="34" charset="0"/>
                <a:cs typeface="Arial" pitchFamily="34" charset="-120"/>
              </a:rPr>
              <a:t> for </a:t>
            </a:r>
            <a:r>
              <a:rPr lang="en-US" sz="1100" b="1" dirty="0">
                <a:latin typeface="Arial" pitchFamily="34" charset="0"/>
                <a:cs typeface="Arial" pitchFamily="34" charset="-120"/>
              </a:rPr>
              <a:t>V4440</a:t>
            </a:r>
            <a:r>
              <a:rPr lang="en-US" sz="1100" dirty="0">
                <a:latin typeface="Arial" pitchFamily="34" charset="0"/>
                <a:cs typeface="Arial" pitchFamily="34" charset="-120"/>
              </a:rPr>
              <a:t>.</a:t>
            </a:r>
          </a:p>
          <a:p>
            <a:pPr>
              <a:lnSpc>
                <a:spcPct val="250000"/>
              </a:lnSpc>
            </a:pPr>
            <a:r>
              <a:rPr lang="en-US" sz="1100" b="1" dirty="0">
                <a:latin typeface="Arial" pitchFamily="34" charset="0"/>
                <a:cs typeface="Arial" pitchFamily="34" charset="-120"/>
              </a:rPr>
              <a:t>3. Optimize Warehouse Operations</a:t>
            </a: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latin typeface="Arial" pitchFamily="34" charset="0"/>
                <a:cs typeface="Arial" pitchFamily="34" charset="-120"/>
              </a:rPr>
              <a:t>Redistribute shipment load across facilities, because average </a:t>
            </a:r>
            <a:r>
              <a:rPr lang="en-US" sz="1100" b="1" dirty="0">
                <a:latin typeface="Arial" pitchFamily="34" charset="0"/>
                <a:cs typeface="Arial" pitchFamily="34" charset="-120"/>
              </a:rPr>
              <a:t>warehouse utilization </a:t>
            </a:r>
            <a:r>
              <a:rPr lang="en-US" sz="1100" dirty="0">
                <a:latin typeface="Arial" pitchFamily="34" charset="0"/>
                <a:cs typeface="Arial" pitchFamily="34" charset="-120"/>
              </a:rPr>
              <a:t>is </a:t>
            </a:r>
            <a:r>
              <a:rPr lang="en-US" sz="1100" b="1" dirty="0">
                <a:latin typeface="Arial" pitchFamily="34" charset="0"/>
                <a:cs typeface="Arial" pitchFamily="34" charset="-120"/>
              </a:rPr>
              <a:t>66.65 </a:t>
            </a:r>
            <a:r>
              <a:rPr lang="en-US" sz="1100" dirty="0">
                <a:latin typeface="Arial" pitchFamily="34" charset="0"/>
                <a:cs typeface="Arial" pitchFamily="34" charset="-120"/>
              </a:rPr>
              <a:t>while </a:t>
            </a:r>
            <a:r>
              <a:rPr lang="en-US" sz="1100" b="1" dirty="0">
                <a:latin typeface="Arial" pitchFamily="34" charset="0"/>
                <a:cs typeface="Arial" pitchFamily="34" charset="-120"/>
              </a:rPr>
              <a:t>PLANT14</a:t>
            </a:r>
            <a:r>
              <a:rPr lang="en-US" sz="1100" dirty="0">
                <a:latin typeface="Arial" pitchFamily="34" charset="0"/>
                <a:cs typeface="Arial" pitchFamily="34" charset="-120"/>
              </a:rPr>
              <a:t> and </a:t>
            </a:r>
            <a:r>
              <a:rPr lang="en-US" sz="1100" b="1" dirty="0">
                <a:latin typeface="Arial" pitchFamily="34" charset="0"/>
                <a:cs typeface="Arial" pitchFamily="34" charset="-120"/>
              </a:rPr>
              <a:t>PLANT18</a:t>
            </a:r>
            <a:r>
              <a:rPr lang="en-US" sz="1100" dirty="0">
                <a:latin typeface="Arial" pitchFamily="34" charset="0"/>
                <a:cs typeface="Arial" pitchFamily="34" charset="-120"/>
              </a:rPr>
              <a:t> are heavily loaded at </a:t>
            </a:r>
            <a:r>
              <a:rPr lang="en-US" sz="1100" b="1" dirty="0">
                <a:latin typeface="Arial" pitchFamily="34" charset="0"/>
                <a:cs typeface="Arial" pitchFamily="34" charset="-120"/>
              </a:rPr>
              <a:t>82.50%</a:t>
            </a:r>
            <a:r>
              <a:rPr lang="en-US" sz="1100" dirty="0">
                <a:latin typeface="Arial" pitchFamily="34" charset="0"/>
                <a:cs typeface="Arial" pitchFamily="34" charset="-120"/>
              </a:rPr>
              <a:t> and </a:t>
            </a:r>
            <a:r>
              <a:rPr lang="en-US" sz="1100" b="1" dirty="0">
                <a:latin typeface="Arial" pitchFamily="34" charset="0"/>
                <a:cs typeface="Arial" pitchFamily="34" charset="-120"/>
              </a:rPr>
              <a:t>82.03%.</a:t>
            </a:r>
          </a:p>
          <a:p>
            <a:pPr>
              <a:lnSpc>
                <a:spcPct val="250000"/>
              </a:lnSpc>
            </a:pPr>
            <a:endParaRPr lang="en-US" sz="1100" dirty="0">
              <a:latin typeface="Arial" pitchFamily="34" charset="0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6264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559D13E-7873-92BC-BE27-AB17B4579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488C6B5-C877-CF08-6D24-7DE77D98291D}"/>
              </a:ext>
            </a:extLst>
          </p:cNvPr>
          <p:cNvSpPr/>
          <p:nvPr/>
        </p:nvSpPr>
        <p:spPr>
          <a:xfrm>
            <a:off x="609600" y="40386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240"/>
              </a:lnSpc>
            </a:pPr>
            <a:r>
              <a:rPr lang="en-IN" sz="2700" b="1">
                <a:latin typeface="Arial" pitchFamily="34" charset="0"/>
                <a:cs typeface="Arial" pitchFamily="34" charset="-120"/>
              </a:rPr>
              <a:t>Limitation and Future Scope </a:t>
            </a:r>
            <a:endParaRPr lang="en-US" sz="2700" b="1">
              <a:latin typeface="Arial" pitchFamily="34" charset="0"/>
              <a:cs typeface="Arial" pitchFamily="34" charset="-12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31FCDB1-4E5D-E4CA-3593-6DD7D0859603}"/>
              </a:ext>
            </a:extLst>
          </p:cNvPr>
          <p:cNvSpPr/>
          <p:nvPr/>
        </p:nvSpPr>
        <p:spPr>
          <a:xfrm>
            <a:off x="762000" y="1034145"/>
            <a:ext cx="7620000" cy="3787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200000"/>
              </a:lnSpc>
            </a:pPr>
            <a:r>
              <a:rPr lang="en-US" sz="1350" b="1" dirty="0">
                <a:latin typeface="Arial" pitchFamily="34" charset="0"/>
                <a:cs typeface="Arial" pitchFamily="34" charset="-120"/>
              </a:rPr>
              <a:t>Current Limitations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Arial" pitchFamily="34" charset="0"/>
                <a:cs typeface="Arial" pitchFamily="34" charset="-120"/>
              </a:rPr>
              <a:t>Analysis is based on historical data, which may not fully capture real-time operational changes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Arial" pitchFamily="34" charset="0"/>
                <a:cs typeface="Arial" pitchFamily="34" charset="-120"/>
              </a:rPr>
              <a:t>Limited variables for external factors (e.g., weather, traffic, fuel cost) affecting delivery performance.</a:t>
            </a:r>
          </a:p>
          <a:p>
            <a:pPr>
              <a:lnSpc>
                <a:spcPct val="200000"/>
              </a:lnSpc>
            </a:pPr>
            <a:r>
              <a:rPr lang="en-IN" sz="1350" b="1" dirty="0">
                <a:latin typeface="Arial" pitchFamily="34" charset="0"/>
                <a:cs typeface="Arial" pitchFamily="34" charset="-120"/>
              </a:rPr>
              <a:t>Future Scope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Arial" pitchFamily="34" charset="0"/>
                <a:cs typeface="Arial" pitchFamily="34" charset="-120"/>
              </a:rPr>
              <a:t>Integrate real-time data systems (IoT, GPS tracking) for live monitoring and decision-making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Arial" pitchFamily="34" charset="0"/>
                <a:cs typeface="Arial" pitchFamily="34" charset="-120"/>
              </a:rPr>
              <a:t>Include external factors like weather and traffic to improve prediction accuracy</a:t>
            </a:r>
          </a:p>
        </p:txBody>
      </p:sp>
    </p:spTree>
    <p:extLst>
      <p:ext uri="{BB962C8B-B14F-4D97-AF65-F5344CB8AC3E}">
        <p14:creationId xmlns:p14="http://schemas.microsoft.com/office/powerpoint/2010/main" val="32069539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324044" y="1790700"/>
            <a:ext cx="249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052077" y="3137275"/>
            <a:ext cx="114434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latin typeface="Arial" pitchFamily="34" charset="0"/>
                <a:ea typeface="Arial" pitchFamily="34" charset="-122"/>
                <a:cs typeface="Arial" pitchFamily="34" charset="-120"/>
              </a:rPr>
              <a:t>Any Questions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1973</TotalTime>
  <Words>1701</Words>
  <Application>Microsoft Office PowerPoint</Application>
  <PresentationFormat>On-screen Show (16:9)</PresentationFormat>
  <Paragraphs>257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Gill Sans MT</vt:lpstr>
      <vt:lpstr>Wingdings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Omkar Vaity</cp:lastModifiedBy>
  <cp:revision>54</cp:revision>
  <dcterms:created xsi:type="dcterms:W3CDTF">2026-01-15T14:46:20Z</dcterms:created>
  <dcterms:modified xsi:type="dcterms:W3CDTF">2026-05-18T12:51:03Z</dcterms:modified>
</cp:coreProperties>
</file>